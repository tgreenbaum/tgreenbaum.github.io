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008">
          <p15:clr>
            <a:srgbClr val="A4A3A4"/>
          </p15:clr>
        </p15:guide>
      </p15:sldGuideLst>
    </p:ext>
    <p:ext uri="GoogleSlidesCustomDataVersion2">
      <go:slidesCustomData xmlns:go="http://customooxmlschemas.google.com/" r:id="rId12" roundtripDataSignature="AMtx7mgeuXXF4hNf47lV4+0Gk3KwZg9x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00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2"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Calibri"/>
                <a:ea typeface="Calibri"/>
                <a:cs typeface="Calibri"/>
                <a:sym typeface="Calibri"/>
              </a:rPr>
              <a:t>Summary</a:t>
            </a:r>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The #1 reason people buy BodyGuardz protection products for mobile devices is quality. The #2 reason? Consumer reviews.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Solution at a glance</a:t>
            </a:r>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Challenge</a:t>
            </a:r>
            <a:r>
              <a:rPr b="0" i="0" lang="en-US" sz="1200">
                <a:solidFill>
                  <a:schemeClr val="dk1"/>
                </a:solidFill>
                <a:latin typeface="Calibri"/>
                <a:ea typeface="Calibri"/>
                <a:cs typeface="Calibri"/>
                <a:sym typeface="Calibri"/>
              </a:rPr>
              <a:t>: Build on BodyGuardz’ successful use of reviews by extending reviews beyond the company’s website.</a:t>
            </a:r>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Solution</a:t>
            </a:r>
            <a:r>
              <a:rPr b="0" i="0" lang="en-US" sz="1200">
                <a:solidFill>
                  <a:schemeClr val="dk1"/>
                </a:solidFill>
                <a:latin typeface="Calibri"/>
                <a:ea typeface="Calibri"/>
                <a:cs typeface="Calibri"/>
                <a:sym typeface="Calibri"/>
              </a:rPr>
              <a:t>: Use Bazaarvoice Conversations to syndicate reviews to retailers and incorporate reviews into marketing materials.</a:t>
            </a:r>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Benefits</a:t>
            </a:r>
            <a:r>
              <a:rPr b="0" i="0" lang="en-US" sz="1200">
                <a:solidFill>
                  <a:schemeClr val="dk1"/>
                </a:solidFill>
                <a:latin typeface="Calibri"/>
                <a:ea typeface="Calibri"/>
                <a:cs typeface="Calibri"/>
                <a:sym typeface="Calibri"/>
              </a:rPr>
              <a:t>: Significantly improve conversion rates, increase review volume, and build stronger relationships with retailers.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“Customer reviews are vital to our success at BodyGuardz,” says Whitney Pye, Director of Marketing. “They provide that extra credibility that not only do we believe in our products, but our customers do, too.”</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Reviews have been a key part of more than a decade of impressive growth for BodyGuardz, which started in 2002 with a small line of screen protectors. Today, the company provides thousands of protection products to mobile device users worldwide and recently earned a place on the Inc. 5000 list of America’s fastest-growing companies.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BodyGuardz began working with Bazaarvoice in 2013 after realizing the limitations of its original review program, which confined reviews to the company’s website. Bazaarvoice has enabled the company to share reviews through other channels, too.</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Syndicating reviews to spread the word — and support the retailer</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The opportunity to syndicate was the main reason BodyGuardz made the switch to Bazaarvoice. Syndication allows the company to share review content with consumers through the retail channel. So instead of being able to see product reviews only on the BodyGuardz website, consumers can also see them when they’re making buying decisions at another key point of purchase.</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Syndication is also “extremely helpful in showing we support our retail partners’ success, and in reinforcing our relationship,” says Pye. “We were even able to show executives at one of our retailers reviews from their own employees that emphasized their sales associates strongly believed in our product.”</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BodyGuardz also uses reviews in the ongoing effort to recruit more retailers to sell BodyGuardz products. They use reviews in brochures and sales sheets to retailers to make a strong case to get their products into retailers’ online and offline stores. Their strategy is often to first prove sales on a retailer’s website, and then build on that success to move into stores as well.</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Sharing reviews in marketing materials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Another way in which BodyGuardz has increased the value of reviews is to use them in marketing efforts, including online banners and ads, emails, social channels, and product packaging. A successful YouTube video features a collection of video reviews and snippets from online reviews.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While star ratings – which were unavailable with BodyGuardz’ previous review program – have been great for conversion during the shopping process, the company has found sharing customer testimonials to be effective as a marketing tool and will be testing star ratings in marketing materials now that these are available. “We use customer quotes more than star ratings in our marketing materials,” says Pye.</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Using Bazaarvoice best practices to boost review volume 646%</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Because reviews are so important to BodyGuardz’ business, the company is constantly looking for ways to generate more reviews. Since launching Bazaarvoice Conversations, they’ve seen outstanding results:</a:t>
            </a:r>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-646% lift in review volume</a:t>
            </a:r>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-121% lift in conversion rate from people who interact with reviews</a:t>
            </a:r>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-81% lift in revenue per visit from people who interact with reviews (versus those who don’t)</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Pye credits Bazaarvoice best practices such as post-interaction email (PIE) and customer promotions for the growth in review volume. “When we implemented PIE immediately after we launched Bazaarvoice Conversations, we saw a lift in review volume,” she says.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The company also held a giveaway to support the launch of ratings and reviews, offering reviewers a chance to win an iPad mini. “It was a great tactic for getting the review program off the ground,” says Pye. “And we definitely want to do it again to generate more positive reviews.”</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67" name="Google Shape;167;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731e41b35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2731e41b35a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Calibri"/>
                <a:ea typeface="Calibri"/>
                <a:cs typeface="Calibri"/>
                <a:sym typeface="Calibri"/>
              </a:rPr>
              <a:t>Summary</a:t>
            </a:r>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The #1 reason people buy BodyGuardz protection products for mobile devices is quality. The #2 reason? Consumer reviews.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Solution at a glance</a:t>
            </a:r>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Challenge</a:t>
            </a:r>
            <a:r>
              <a:rPr b="0" i="0" lang="en-US" sz="1200">
                <a:solidFill>
                  <a:schemeClr val="dk1"/>
                </a:solidFill>
                <a:latin typeface="Calibri"/>
                <a:ea typeface="Calibri"/>
                <a:cs typeface="Calibri"/>
                <a:sym typeface="Calibri"/>
              </a:rPr>
              <a:t>: Build on BodyGuardz’ successful use of reviews by extending reviews beyond the company’s website.</a:t>
            </a:r>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Solution</a:t>
            </a:r>
            <a:r>
              <a:rPr b="0" i="0" lang="en-US" sz="1200">
                <a:solidFill>
                  <a:schemeClr val="dk1"/>
                </a:solidFill>
                <a:latin typeface="Calibri"/>
                <a:ea typeface="Calibri"/>
                <a:cs typeface="Calibri"/>
                <a:sym typeface="Calibri"/>
              </a:rPr>
              <a:t>: Use Bazaarvoice Conversations to syndicate reviews to retailers and incorporate reviews into marketing materials.</a:t>
            </a:r>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Benefits</a:t>
            </a:r>
            <a:r>
              <a:rPr b="0" i="0" lang="en-US" sz="1200">
                <a:solidFill>
                  <a:schemeClr val="dk1"/>
                </a:solidFill>
                <a:latin typeface="Calibri"/>
                <a:ea typeface="Calibri"/>
                <a:cs typeface="Calibri"/>
                <a:sym typeface="Calibri"/>
              </a:rPr>
              <a:t>: Significantly improve conversion rates, increase review volume, and build stronger relationships with retailers.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“Customer reviews are vital to our success at BodyGuardz,” says Whitney Pye, Director of Marketing. “They provide that extra credibility that not only do we believe in our products, but our customers do, too.”</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Reviews have been a key part of more than a decade of impressive growth for BodyGuardz, which started in 2002 with a small line of screen protectors. Today, the company provides thousands of protection products to mobile device users worldwide and recently earned a place on the Inc. 5000 list of America’s fastest-growing companies.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BodyGuardz began working with Bazaarvoice in 2013 after realizing the limitations of its original review program, which confined reviews to the company’s website. Bazaarvoice has enabled the company to share reviews through other channels, too.</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Syndicating reviews to spread the word — and support the retailer</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The opportunity to syndicate was the main reason BodyGuardz made the switch to Bazaarvoice. Syndication allows the company to share review content with consumers through the retail channel. So instead of being able to see product reviews only on the BodyGuardz website, consumers can also see them when they’re making buying decisions at another key point of purchase.</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Syndication is also “extremely helpful in showing we support our retail partners’ success, and in reinforcing our relationship,” says Pye. “We were even able to show executives at one of our retailers reviews from their own employees that emphasized their sales associates strongly believed in our product.”</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BodyGuardz also uses reviews in the ongoing effort to recruit more retailers to sell BodyGuardz products. They use reviews in brochures and sales sheets to retailers to make a strong case to get their products into retailers’ online and offline stores. Their strategy is often to first prove sales on a retailer’s website, and then build on that success to move into stores as well.</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Sharing reviews in marketing materials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Another way in which BodyGuardz has increased the value of reviews is to use them in marketing efforts, including online banners and ads, emails, social channels, and product packaging. A successful YouTube video features a collection of video reviews and snippets from online reviews.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While star ratings – which were unavailable with BodyGuardz’ previous review program – have been great for conversion during the shopping process, the company has found sharing customer testimonials to be effective as a marketing tool and will be testing star ratings in marketing materials now that these are available. “We use customer quotes more than star ratings in our marketing materials,” says Pye.</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1" i="0" lang="en-US" sz="1200">
                <a:solidFill>
                  <a:schemeClr val="dk1"/>
                </a:solidFill>
                <a:latin typeface="Calibri"/>
                <a:ea typeface="Calibri"/>
                <a:cs typeface="Calibri"/>
                <a:sym typeface="Calibri"/>
              </a:rPr>
              <a:t>Using Bazaarvoice best practices to boost review volume 646%</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Because reviews are so important to BodyGuardz’ business, the company is constantly looking for ways to generate more reviews. Since launching Bazaarvoice Conversations, they’ve seen outstanding results:</a:t>
            </a:r>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-646% lift in review volume</a:t>
            </a:r>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-121% lift in conversion rate from people who interact with reviews</a:t>
            </a:r>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-81% lift in revenue per visit from people who interact with reviews (versus those who don’t)</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Pye credits Bazaarvoice best practices such as post-interaction email (PIE) and customer promotions for the growth in review volume. “When we implemented PIE immediately after we launched Bazaarvoice Conversations, we saw a lift in review volume,” she says.</a:t>
            </a:r>
            <a:endParaRPr/>
          </a:p>
          <a:p>
            <a:pPr indent="0" lvl="0" marL="0" rtl="0" algn="l">
              <a:spcBef>
                <a:spcPts val="36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360"/>
              </a:spcBef>
              <a:spcAft>
                <a:spcPts val="0"/>
              </a:spcAft>
              <a:buNone/>
            </a:pPr>
            <a:r>
              <a:rPr b="0" i="0" lang="en-US" sz="1200">
                <a:solidFill>
                  <a:schemeClr val="dk1"/>
                </a:solidFill>
                <a:latin typeface="Calibri"/>
                <a:ea typeface="Calibri"/>
                <a:cs typeface="Calibri"/>
                <a:sym typeface="Calibri"/>
              </a:rPr>
              <a:t>The company also held a giveaway to support the launch of ratings and reviews, offering reviewers a chance to win an iPad mini. “It was a great tactic for getting the review program off the ground,” says Pye. “And we definitely want to do it again to generate more positive reviews.”</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77" name="Google Shape;177;g2731e41b35a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s layout" showMasterSp="0">
  <p:cSld name="title and bullets layout">
    <p:spTree>
      <p:nvGrpSpPr>
        <p:cNvPr id="16" name="Shape 16"/>
        <p:cNvGrpSpPr/>
        <p:nvPr/>
      </p:nvGrpSpPr>
      <p:grpSpPr>
        <a:xfrm>
          <a:off x="0" y="0"/>
          <a:ext cx="0" cy="0"/>
          <a:chOff x="0" y="0"/>
          <a:chExt cx="0" cy="0"/>
        </a:xfrm>
      </p:grpSpPr>
      <p:sp>
        <p:nvSpPr>
          <p:cNvPr id="17" name="Google Shape;17;p7"/>
          <p:cNvSpPr txBox="1"/>
          <p:nvPr>
            <p:ph idx="1" type="body"/>
          </p:nvPr>
        </p:nvSpPr>
        <p:spPr>
          <a:xfrm>
            <a:off x="215900" y="1155700"/>
            <a:ext cx="8743950" cy="3575050"/>
          </a:xfrm>
          <a:prstGeom prst="rect">
            <a:avLst/>
          </a:prstGeom>
          <a:noFill/>
          <a:ln>
            <a:noFill/>
          </a:ln>
        </p:spPr>
        <p:txBody>
          <a:bodyPr anchorCtr="0" anchor="t" bIns="45700" lIns="91425" spcFirstLastPara="1" rIns="91425" wrap="square" tIns="45700">
            <a:normAutofit/>
          </a:bodyPr>
          <a:lstStyle>
            <a:lvl1pPr indent="-342900" lvl="0" marL="457200" algn="l">
              <a:spcBef>
                <a:spcPts val="0"/>
              </a:spcBef>
              <a:spcAft>
                <a:spcPts val="0"/>
              </a:spcAft>
              <a:buSzPts val="1800"/>
              <a:buChar char="•"/>
              <a:defRPr/>
            </a:lvl1pPr>
            <a:lvl2pPr indent="-342900" lvl="1" marL="914400" algn="l">
              <a:spcBef>
                <a:spcPts val="1200"/>
              </a:spcBef>
              <a:spcAft>
                <a:spcPts val="0"/>
              </a:spcAft>
              <a:buSzPts val="1800"/>
              <a:buChar char="•"/>
              <a:defRPr/>
            </a:lvl2pPr>
            <a:lvl3pPr indent="-342900" lvl="2" marL="1371600" algn="l">
              <a:spcBef>
                <a:spcPts val="1200"/>
              </a:spcBef>
              <a:spcAft>
                <a:spcPts val="0"/>
              </a:spcAft>
              <a:buSzPts val="1800"/>
              <a:buChar char="•"/>
              <a:defRPr/>
            </a:lvl3pPr>
            <a:lvl4pPr indent="-342900" lvl="3" marL="1828800" algn="l">
              <a:spcBef>
                <a:spcPts val="1200"/>
              </a:spcBef>
              <a:spcAft>
                <a:spcPts val="0"/>
              </a:spcAft>
              <a:buSzPts val="1800"/>
              <a:buChar char="•"/>
              <a:defRPr/>
            </a:lvl4pPr>
            <a:lvl5pPr indent="-342900" lvl="4" marL="2286000" algn="l">
              <a:spcBef>
                <a:spcPts val="1200"/>
              </a:spcBef>
              <a:spcAft>
                <a:spcPts val="0"/>
              </a:spcAft>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7"/>
          <p:cNvSpPr txBox="1"/>
          <p:nvPr>
            <p:ph type="title"/>
          </p:nvPr>
        </p:nvSpPr>
        <p:spPr>
          <a:xfrm>
            <a:off x="215900" y="206375"/>
            <a:ext cx="8680450" cy="8572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
          <p:cNvSpPr/>
          <p:nvPr/>
        </p:nvSpPr>
        <p:spPr>
          <a:xfrm>
            <a:off x="0" y="0"/>
            <a:ext cx="9144000" cy="11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00" u="none" cap="none" strike="noStrike">
              <a:solidFill>
                <a:schemeClr val="lt1"/>
              </a:solidFill>
              <a:latin typeface="Verdana"/>
              <a:ea typeface="Verdana"/>
              <a:cs typeface="Verdana"/>
              <a:sym typeface="Verdana"/>
            </a:endParaRPr>
          </a:p>
        </p:txBody>
      </p:sp>
      <p:sp>
        <p:nvSpPr>
          <p:cNvPr id="20" name="Google Shape;20;p7"/>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21" name="Google Shape;21;p7"/>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no image" showMasterSp="0">
  <p:cSld name="Title Slide no image">
    <p:spTree>
      <p:nvGrpSpPr>
        <p:cNvPr id="22" name="Shape 22"/>
        <p:cNvGrpSpPr/>
        <p:nvPr/>
      </p:nvGrpSpPr>
      <p:grpSpPr>
        <a:xfrm>
          <a:off x="0" y="0"/>
          <a:ext cx="0" cy="0"/>
          <a:chOff x="0" y="0"/>
          <a:chExt cx="0" cy="0"/>
        </a:xfrm>
      </p:grpSpPr>
      <p:sp>
        <p:nvSpPr>
          <p:cNvPr id="23" name="Google Shape;23;p8"/>
          <p:cNvSpPr/>
          <p:nvPr/>
        </p:nvSpPr>
        <p:spPr>
          <a:xfrm>
            <a:off x="0" y="0"/>
            <a:ext cx="9144000" cy="5143500"/>
          </a:xfrm>
          <a:prstGeom prst="rect">
            <a:avLst/>
          </a:prstGeom>
          <a:gradFill>
            <a:gsLst>
              <a:gs pos="0">
                <a:srgbClr val="9E0011">
                  <a:alpha val="0"/>
                </a:srgbClr>
              </a:gs>
              <a:gs pos="70000">
                <a:srgbClr val="9E0011">
                  <a:alpha val="0"/>
                </a:srgbClr>
              </a:gs>
              <a:gs pos="100000">
                <a:srgbClr val="0C0C0C">
                  <a:alpha val="15686"/>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00" u="none" cap="none" strike="noStrike">
              <a:solidFill>
                <a:schemeClr val="lt1"/>
              </a:solidFill>
              <a:latin typeface="Arial"/>
              <a:ea typeface="Arial"/>
              <a:cs typeface="Arial"/>
              <a:sym typeface="Arial"/>
            </a:endParaRPr>
          </a:p>
        </p:txBody>
      </p:sp>
      <p:sp>
        <p:nvSpPr>
          <p:cNvPr id="24" name="Google Shape;24;p8"/>
          <p:cNvSpPr txBox="1"/>
          <p:nvPr>
            <p:ph type="title"/>
          </p:nvPr>
        </p:nvSpPr>
        <p:spPr>
          <a:xfrm>
            <a:off x="704850" y="2476500"/>
            <a:ext cx="8102600" cy="838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003D4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BV_Primary_FullColor_Registered_CMYK_v2.png" id="25" name="Google Shape;25;p8"/>
          <p:cNvPicPr preferRelativeResize="0"/>
          <p:nvPr/>
        </p:nvPicPr>
        <p:blipFill rotWithShape="1">
          <a:blip r:embed="rId2">
            <a:alphaModFix/>
          </a:blip>
          <a:srcRect b="0" l="0" r="0" t="0"/>
          <a:stretch/>
        </p:blipFill>
        <p:spPr>
          <a:xfrm>
            <a:off x="781050" y="882650"/>
            <a:ext cx="1340349" cy="1390545"/>
          </a:xfrm>
          <a:prstGeom prst="rect">
            <a:avLst/>
          </a:prstGeom>
          <a:noFill/>
          <a:ln>
            <a:noFill/>
          </a:ln>
        </p:spPr>
      </p:pic>
      <p:sp>
        <p:nvSpPr>
          <p:cNvPr id="26" name="Google Shape;26;p8"/>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27" name="Google Shape;27;p8"/>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qua divider" showMasterSp="0">
  <p:cSld name="aqua divider">
    <p:spTree>
      <p:nvGrpSpPr>
        <p:cNvPr id="28" name="Shape 28"/>
        <p:cNvGrpSpPr/>
        <p:nvPr/>
      </p:nvGrpSpPr>
      <p:grpSpPr>
        <a:xfrm>
          <a:off x="0" y="0"/>
          <a:ext cx="0" cy="0"/>
          <a:chOff x="0" y="0"/>
          <a:chExt cx="0" cy="0"/>
        </a:xfrm>
      </p:grpSpPr>
      <p:pic>
        <p:nvPicPr>
          <p:cNvPr descr="iStock_000021484350Medium.jpg" id="29" name="Google Shape;29;p9"/>
          <p:cNvPicPr preferRelativeResize="0"/>
          <p:nvPr/>
        </p:nvPicPr>
        <p:blipFill rotWithShape="1">
          <a:blip r:embed="rId2">
            <a:alphaModFix/>
          </a:blip>
          <a:srcRect b="0" l="0" r="0" t="0"/>
          <a:stretch/>
        </p:blipFill>
        <p:spPr>
          <a:xfrm>
            <a:off x="0" y="-1"/>
            <a:ext cx="9144000" cy="5143501"/>
          </a:xfrm>
          <a:prstGeom prst="rect">
            <a:avLst/>
          </a:prstGeom>
          <a:noFill/>
          <a:ln>
            <a:noFill/>
          </a:ln>
        </p:spPr>
      </p:pic>
      <p:sp>
        <p:nvSpPr>
          <p:cNvPr id="30" name="Google Shape;30;p9"/>
          <p:cNvSpPr txBox="1"/>
          <p:nvPr/>
        </p:nvSpPr>
        <p:spPr>
          <a:xfrm>
            <a:off x="0" y="2628900"/>
            <a:ext cx="9144000" cy="1716390"/>
          </a:xfrm>
          <a:prstGeom prst="rect">
            <a:avLst/>
          </a:prstGeom>
          <a:solidFill>
            <a:srgbClr val="003D4C"/>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31" name="Google Shape;31;p9"/>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BFBFBF"/>
              </a:buClr>
              <a:buSzPts val="650"/>
              <a:buFont typeface="Verdana"/>
              <a:buNone/>
            </a:pPr>
            <a:r>
              <a:rPr b="0" i="0" lang="en-US" sz="650" u="none" cap="none" strike="noStrike">
                <a:solidFill>
                  <a:srgbClr val="BFBFBF"/>
                </a:solidFill>
                <a:latin typeface="Verdana"/>
                <a:ea typeface="Verdana"/>
                <a:cs typeface="Verdana"/>
                <a:sym typeface="Verdana"/>
              </a:rPr>
              <a:t>Confidential and Proprietary. © 2015 Bazaarvoice, Inc. </a:t>
            </a:r>
            <a:endParaRPr/>
          </a:p>
        </p:txBody>
      </p:sp>
      <p:sp>
        <p:nvSpPr>
          <p:cNvPr id="32" name="Google Shape;32;p9"/>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BFBFBF"/>
                </a:solidFill>
                <a:latin typeface="Verdana"/>
                <a:ea typeface="Verdana"/>
                <a:cs typeface="Verdana"/>
                <a:sym typeface="Verdana"/>
              </a:rPr>
              <a:t>‹#›</a:t>
            </a:fld>
            <a:endParaRPr b="0" i="0" sz="650" u="none" cap="none" strike="noStrike">
              <a:solidFill>
                <a:srgbClr val="BFBFBF"/>
              </a:solidFill>
              <a:latin typeface="Verdana"/>
              <a:ea typeface="Verdana"/>
              <a:cs typeface="Verdana"/>
              <a:sym typeface="Verdana"/>
            </a:endParaRPr>
          </a:p>
        </p:txBody>
      </p:sp>
      <p:sp>
        <p:nvSpPr>
          <p:cNvPr id="33" name="Google Shape;33;p9"/>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urple divider" showMasterSp="0">
  <p:cSld name="1_purple divider">
    <p:spTree>
      <p:nvGrpSpPr>
        <p:cNvPr id="34" name="Shape 34"/>
        <p:cNvGrpSpPr/>
        <p:nvPr/>
      </p:nvGrpSpPr>
      <p:grpSpPr>
        <a:xfrm>
          <a:off x="0" y="0"/>
          <a:ext cx="0" cy="0"/>
          <a:chOff x="0" y="0"/>
          <a:chExt cx="0" cy="0"/>
        </a:xfrm>
      </p:grpSpPr>
      <p:pic>
        <p:nvPicPr>
          <p:cNvPr descr="CUP0045237.JPG" id="35" name="Google Shape;35;p10"/>
          <p:cNvPicPr preferRelativeResize="0"/>
          <p:nvPr/>
        </p:nvPicPr>
        <p:blipFill rotWithShape="1">
          <a:blip r:embed="rId2">
            <a:alphaModFix/>
          </a:blip>
          <a:srcRect b="0" l="0" r="0" t="0"/>
          <a:stretch/>
        </p:blipFill>
        <p:spPr>
          <a:xfrm>
            <a:off x="-2032" y="0"/>
            <a:ext cx="9146032" cy="5143500"/>
          </a:xfrm>
          <a:prstGeom prst="rect">
            <a:avLst/>
          </a:prstGeom>
          <a:noFill/>
          <a:ln>
            <a:noFill/>
          </a:ln>
        </p:spPr>
      </p:pic>
      <p:sp>
        <p:nvSpPr>
          <p:cNvPr id="36" name="Google Shape;36;p10"/>
          <p:cNvSpPr txBox="1"/>
          <p:nvPr/>
        </p:nvSpPr>
        <p:spPr>
          <a:xfrm>
            <a:off x="0" y="2628900"/>
            <a:ext cx="9144000" cy="1716390"/>
          </a:xfrm>
          <a:prstGeom prst="rect">
            <a:avLst/>
          </a:prstGeom>
          <a:solidFill>
            <a:schemeClr val="dk2"/>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37" name="Google Shape;37;p10"/>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BFBFBF"/>
              </a:buClr>
              <a:buSzPts val="650"/>
              <a:buFont typeface="Verdana"/>
              <a:buNone/>
            </a:pPr>
            <a:r>
              <a:rPr b="0" i="0" lang="en-US" sz="650" u="none" cap="none" strike="noStrike">
                <a:solidFill>
                  <a:srgbClr val="BFBFBF"/>
                </a:solidFill>
                <a:latin typeface="Verdana"/>
                <a:ea typeface="Verdana"/>
                <a:cs typeface="Verdana"/>
                <a:sym typeface="Verdana"/>
              </a:rPr>
              <a:t>Confidential and Proprietary. © 2015 Bazaarvoice, Inc. </a:t>
            </a:r>
            <a:endParaRPr/>
          </a:p>
        </p:txBody>
      </p:sp>
      <p:sp>
        <p:nvSpPr>
          <p:cNvPr id="38" name="Google Shape;38;p10"/>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BFBFBF"/>
                </a:solidFill>
                <a:latin typeface="Verdana"/>
                <a:ea typeface="Verdana"/>
                <a:cs typeface="Verdana"/>
                <a:sym typeface="Verdana"/>
              </a:rPr>
              <a:t>‹#›</a:t>
            </a:fld>
            <a:endParaRPr b="0" i="0" sz="650" u="none" cap="none" strike="noStrike">
              <a:solidFill>
                <a:srgbClr val="BFBFBF"/>
              </a:solidFill>
              <a:latin typeface="Verdana"/>
              <a:ea typeface="Verdana"/>
              <a:cs typeface="Verdana"/>
              <a:sym typeface="Verdana"/>
            </a:endParaRPr>
          </a:p>
        </p:txBody>
      </p:sp>
      <p:sp>
        <p:nvSpPr>
          <p:cNvPr id="39" name="Google Shape;39;p10"/>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V navy divider" showMasterSp="0">
  <p:cSld name="BV navy divider">
    <p:spTree>
      <p:nvGrpSpPr>
        <p:cNvPr id="40" name="Shape 40"/>
        <p:cNvGrpSpPr/>
        <p:nvPr/>
      </p:nvGrpSpPr>
      <p:grpSpPr>
        <a:xfrm>
          <a:off x="0" y="0"/>
          <a:ext cx="0" cy="0"/>
          <a:chOff x="0" y="0"/>
          <a:chExt cx="0" cy="0"/>
        </a:xfrm>
      </p:grpSpPr>
      <p:pic>
        <p:nvPicPr>
          <p:cNvPr descr="iStock_000021574496XLarge.jpg" id="41" name="Google Shape;41;p1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2" name="Google Shape;42;p11"/>
          <p:cNvSpPr txBox="1"/>
          <p:nvPr/>
        </p:nvSpPr>
        <p:spPr>
          <a:xfrm>
            <a:off x="0" y="2628900"/>
            <a:ext cx="9144000" cy="1716390"/>
          </a:xfrm>
          <a:prstGeom prst="rect">
            <a:avLst/>
          </a:prstGeom>
          <a:solidFill>
            <a:srgbClr val="003D4C"/>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43" name="Google Shape;43;p11"/>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BFBFBF"/>
              </a:buClr>
              <a:buSzPts val="650"/>
              <a:buFont typeface="Verdana"/>
              <a:buNone/>
            </a:pPr>
            <a:r>
              <a:rPr b="0" i="0" lang="en-US" sz="650" u="none" cap="none" strike="noStrike">
                <a:solidFill>
                  <a:srgbClr val="BFBFBF"/>
                </a:solidFill>
                <a:latin typeface="Verdana"/>
                <a:ea typeface="Verdana"/>
                <a:cs typeface="Verdana"/>
                <a:sym typeface="Verdana"/>
              </a:rPr>
              <a:t>Confidential and Proprietary. © 2015 Bazaarvoice, Inc. </a:t>
            </a:r>
            <a:endParaRPr/>
          </a:p>
        </p:txBody>
      </p:sp>
      <p:sp>
        <p:nvSpPr>
          <p:cNvPr id="44" name="Google Shape;44;p11"/>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BFBFBF"/>
                </a:solidFill>
                <a:latin typeface="Verdana"/>
                <a:ea typeface="Verdana"/>
                <a:cs typeface="Verdana"/>
                <a:sym typeface="Verdana"/>
              </a:rPr>
              <a:t>‹#›</a:t>
            </a:fld>
            <a:endParaRPr b="0" i="0" sz="650" u="none" cap="none" strike="noStrike">
              <a:solidFill>
                <a:srgbClr val="BFBFBF"/>
              </a:solidFill>
              <a:latin typeface="Verdana"/>
              <a:ea typeface="Verdana"/>
              <a:cs typeface="Verdana"/>
              <a:sym typeface="Verdana"/>
            </a:endParaRPr>
          </a:p>
        </p:txBody>
      </p:sp>
      <p:sp>
        <p:nvSpPr>
          <p:cNvPr id="45" name="Google Shape;45;p11"/>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divider" showMasterSp="0">
  <p:cSld name="orange divider">
    <p:spTree>
      <p:nvGrpSpPr>
        <p:cNvPr id="46" name="Shape 46"/>
        <p:cNvGrpSpPr/>
        <p:nvPr/>
      </p:nvGrpSpPr>
      <p:grpSpPr>
        <a:xfrm>
          <a:off x="0" y="0"/>
          <a:ext cx="0" cy="0"/>
          <a:chOff x="0" y="0"/>
          <a:chExt cx="0" cy="0"/>
        </a:xfrm>
      </p:grpSpPr>
      <p:pic>
        <p:nvPicPr>
          <p:cNvPr descr="CUP0014021.JPG" id="47" name="Google Shape;47;p1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8" name="Google Shape;48;p12"/>
          <p:cNvSpPr txBox="1"/>
          <p:nvPr/>
        </p:nvSpPr>
        <p:spPr>
          <a:xfrm>
            <a:off x="0" y="2628900"/>
            <a:ext cx="9144000" cy="1716390"/>
          </a:xfrm>
          <a:prstGeom prst="rect">
            <a:avLst/>
          </a:prstGeom>
          <a:solidFill>
            <a:srgbClr val="003D4C"/>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49" name="Google Shape;49;p12"/>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50" name="Google Shape;50;p12"/>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sp>
        <p:nvSpPr>
          <p:cNvPr id="51" name="Google Shape;51;p12"/>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green divider" showMasterSp="0">
  <p:cSld name="1_green divider">
    <p:spTree>
      <p:nvGrpSpPr>
        <p:cNvPr id="52" name="Shape 52"/>
        <p:cNvGrpSpPr/>
        <p:nvPr/>
      </p:nvGrpSpPr>
      <p:grpSpPr>
        <a:xfrm>
          <a:off x="0" y="0"/>
          <a:ext cx="0" cy="0"/>
          <a:chOff x="0" y="0"/>
          <a:chExt cx="0" cy="0"/>
        </a:xfrm>
      </p:grpSpPr>
      <p:pic>
        <p:nvPicPr>
          <p:cNvPr descr="blogger-woman.jpg" id="53" name="Google Shape;53;p13"/>
          <p:cNvPicPr preferRelativeResize="0"/>
          <p:nvPr/>
        </p:nvPicPr>
        <p:blipFill rotWithShape="1">
          <a:blip r:embed="rId2">
            <a:alphaModFix/>
          </a:blip>
          <a:srcRect b="0" l="0" r="0" t="0"/>
          <a:stretch/>
        </p:blipFill>
        <p:spPr>
          <a:xfrm>
            <a:off x="-6350" y="0"/>
            <a:ext cx="9150350" cy="5143500"/>
          </a:xfrm>
          <a:prstGeom prst="rect">
            <a:avLst/>
          </a:prstGeom>
          <a:noFill/>
          <a:ln>
            <a:noFill/>
          </a:ln>
        </p:spPr>
      </p:pic>
      <p:sp>
        <p:nvSpPr>
          <p:cNvPr id="54" name="Google Shape;54;p13"/>
          <p:cNvSpPr txBox="1"/>
          <p:nvPr/>
        </p:nvSpPr>
        <p:spPr>
          <a:xfrm>
            <a:off x="0" y="2628900"/>
            <a:ext cx="9144000" cy="1716390"/>
          </a:xfrm>
          <a:prstGeom prst="rect">
            <a:avLst/>
          </a:prstGeom>
          <a:solidFill>
            <a:srgbClr val="003D4C"/>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55" name="Google Shape;55;p13"/>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666D22"/>
                </a:solidFill>
                <a:latin typeface="Verdana"/>
                <a:ea typeface="Verdana"/>
                <a:cs typeface="Verdana"/>
                <a:sym typeface="Verdana"/>
              </a:rPr>
              <a:t>‹#›</a:t>
            </a:fld>
            <a:endParaRPr b="0" i="0" sz="650" u="none" cap="none" strike="noStrike">
              <a:solidFill>
                <a:srgbClr val="666D22"/>
              </a:solidFill>
              <a:latin typeface="Verdana"/>
              <a:ea typeface="Verdana"/>
              <a:cs typeface="Verdana"/>
              <a:sym typeface="Verdana"/>
            </a:endParaRPr>
          </a:p>
        </p:txBody>
      </p:sp>
      <p:sp>
        <p:nvSpPr>
          <p:cNvPr id="56" name="Google Shape;56;p13"/>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58" name="Google Shape;58;p13"/>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qua divider" showMasterSp="0">
  <p:cSld name="1_aqua divider">
    <p:spTree>
      <p:nvGrpSpPr>
        <p:cNvPr id="59" name="Shape 59"/>
        <p:cNvGrpSpPr/>
        <p:nvPr/>
      </p:nvGrpSpPr>
      <p:grpSpPr>
        <a:xfrm>
          <a:off x="0" y="0"/>
          <a:ext cx="0" cy="0"/>
          <a:chOff x="0" y="0"/>
          <a:chExt cx="0" cy="0"/>
        </a:xfrm>
      </p:grpSpPr>
      <p:pic>
        <p:nvPicPr>
          <p:cNvPr descr="iStock_000021484350Medium.jpg" id="60" name="Google Shape;60;p14"/>
          <p:cNvPicPr preferRelativeResize="0"/>
          <p:nvPr/>
        </p:nvPicPr>
        <p:blipFill rotWithShape="1">
          <a:blip r:embed="rId2">
            <a:alphaModFix/>
          </a:blip>
          <a:srcRect b="0" l="0" r="0" t="0"/>
          <a:stretch/>
        </p:blipFill>
        <p:spPr>
          <a:xfrm>
            <a:off x="0" y="-1"/>
            <a:ext cx="9144000" cy="5143501"/>
          </a:xfrm>
          <a:prstGeom prst="rect">
            <a:avLst/>
          </a:prstGeom>
          <a:noFill/>
          <a:ln>
            <a:noFill/>
          </a:ln>
        </p:spPr>
      </p:pic>
      <p:sp>
        <p:nvSpPr>
          <p:cNvPr id="61" name="Google Shape;61;p14"/>
          <p:cNvSpPr txBox="1"/>
          <p:nvPr/>
        </p:nvSpPr>
        <p:spPr>
          <a:xfrm>
            <a:off x="0" y="2628900"/>
            <a:ext cx="9144000" cy="1716390"/>
          </a:xfrm>
          <a:prstGeom prst="rect">
            <a:avLst/>
          </a:prstGeom>
          <a:solidFill>
            <a:srgbClr val="003D4C"/>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62" name="Google Shape;62;p14"/>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BFBFBF"/>
              </a:buClr>
              <a:buSzPts val="650"/>
              <a:buFont typeface="Verdana"/>
              <a:buNone/>
            </a:pPr>
            <a:r>
              <a:rPr b="0" i="0" lang="en-US" sz="650" u="none" cap="none" strike="noStrike">
                <a:solidFill>
                  <a:srgbClr val="BFBFBF"/>
                </a:solidFill>
                <a:latin typeface="Verdana"/>
                <a:ea typeface="Verdana"/>
                <a:cs typeface="Verdana"/>
                <a:sym typeface="Verdana"/>
              </a:rPr>
              <a:t>Confidential and Proprietary. © 2015 Bazaarvoice, Inc. </a:t>
            </a:r>
            <a:endParaRPr/>
          </a:p>
        </p:txBody>
      </p:sp>
      <p:sp>
        <p:nvSpPr>
          <p:cNvPr id="63" name="Google Shape;63;p14"/>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BFBFBF"/>
                </a:solidFill>
                <a:latin typeface="Verdana"/>
                <a:ea typeface="Verdana"/>
                <a:cs typeface="Verdana"/>
                <a:sym typeface="Verdana"/>
              </a:rPr>
              <a:t>‹#›</a:t>
            </a:fld>
            <a:endParaRPr b="0" i="0" sz="650" u="none" cap="none" strike="noStrike">
              <a:solidFill>
                <a:srgbClr val="BFBFBF"/>
              </a:solidFill>
              <a:latin typeface="Verdana"/>
              <a:ea typeface="Verdana"/>
              <a:cs typeface="Verdana"/>
              <a:sym typeface="Verdana"/>
            </a:endParaRPr>
          </a:p>
        </p:txBody>
      </p:sp>
      <p:sp>
        <p:nvSpPr>
          <p:cNvPr id="64" name="Google Shape;64;p14"/>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BV_Secondary_FullColor_lrg_registered_CMYK_v2.png" id="65" name="Google Shape;65;p14"/>
          <p:cNvPicPr preferRelativeResize="0"/>
          <p:nvPr/>
        </p:nvPicPr>
        <p:blipFill rotWithShape="1">
          <a:blip r:embed="rId3">
            <a:alphaModFix/>
          </a:blip>
          <a:srcRect b="0" l="0" r="0" t="0"/>
          <a:stretch/>
        </p:blipFill>
        <p:spPr>
          <a:xfrm>
            <a:off x="7797799" y="4115439"/>
            <a:ext cx="1136651" cy="14704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urple divider" showMasterSp="0">
  <p:cSld name="2_purple divider">
    <p:spTree>
      <p:nvGrpSpPr>
        <p:cNvPr id="66" name="Shape 66"/>
        <p:cNvGrpSpPr/>
        <p:nvPr/>
      </p:nvGrpSpPr>
      <p:grpSpPr>
        <a:xfrm>
          <a:off x="0" y="0"/>
          <a:ext cx="0" cy="0"/>
          <a:chOff x="0" y="0"/>
          <a:chExt cx="0" cy="0"/>
        </a:xfrm>
      </p:grpSpPr>
      <p:pic>
        <p:nvPicPr>
          <p:cNvPr descr="CUP0045237.JPG" id="67" name="Google Shape;67;p15"/>
          <p:cNvPicPr preferRelativeResize="0"/>
          <p:nvPr/>
        </p:nvPicPr>
        <p:blipFill rotWithShape="1">
          <a:blip r:embed="rId2">
            <a:alphaModFix/>
          </a:blip>
          <a:srcRect b="0" l="0" r="0" t="0"/>
          <a:stretch/>
        </p:blipFill>
        <p:spPr>
          <a:xfrm>
            <a:off x="-2032" y="0"/>
            <a:ext cx="9146032" cy="5143500"/>
          </a:xfrm>
          <a:prstGeom prst="rect">
            <a:avLst/>
          </a:prstGeom>
          <a:noFill/>
          <a:ln>
            <a:noFill/>
          </a:ln>
        </p:spPr>
      </p:pic>
      <p:sp>
        <p:nvSpPr>
          <p:cNvPr id="68" name="Google Shape;68;p15"/>
          <p:cNvSpPr txBox="1"/>
          <p:nvPr/>
        </p:nvSpPr>
        <p:spPr>
          <a:xfrm>
            <a:off x="0" y="2628900"/>
            <a:ext cx="9144000" cy="1716390"/>
          </a:xfrm>
          <a:prstGeom prst="rect">
            <a:avLst/>
          </a:prstGeom>
          <a:solidFill>
            <a:schemeClr val="dk2"/>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69" name="Google Shape;69;p15"/>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BFBFBF"/>
              </a:buClr>
              <a:buSzPts val="650"/>
              <a:buFont typeface="Verdana"/>
              <a:buNone/>
            </a:pPr>
            <a:r>
              <a:rPr b="0" i="0" lang="en-US" sz="650" u="none" cap="none" strike="noStrike">
                <a:solidFill>
                  <a:srgbClr val="BFBFBF"/>
                </a:solidFill>
                <a:latin typeface="Verdana"/>
                <a:ea typeface="Verdana"/>
                <a:cs typeface="Verdana"/>
                <a:sym typeface="Verdana"/>
              </a:rPr>
              <a:t>Confidential and Proprietary. © 2015 Bazaarvoice, Inc. </a:t>
            </a:r>
            <a:endParaRPr/>
          </a:p>
        </p:txBody>
      </p:sp>
      <p:sp>
        <p:nvSpPr>
          <p:cNvPr id="70" name="Google Shape;70;p15"/>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BFBFBF"/>
                </a:solidFill>
                <a:latin typeface="Verdana"/>
                <a:ea typeface="Verdana"/>
                <a:cs typeface="Verdana"/>
                <a:sym typeface="Verdana"/>
              </a:rPr>
              <a:t>‹#›</a:t>
            </a:fld>
            <a:endParaRPr b="0" i="0" sz="650" u="none" cap="none" strike="noStrike">
              <a:solidFill>
                <a:srgbClr val="BFBFBF"/>
              </a:solidFill>
              <a:latin typeface="Verdana"/>
              <a:ea typeface="Verdana"/>
              <a:cs typeface="Verdana"/>
              <a:sym typeface="Verdana"/>
            </a:endParaRPr>
          </a:p>
        </p:txBody>
      </p:sp>
      <p:sp>
        <p:nvSpPr>
          <p:cNvPr id="71" name="Google Shape;71;p15"/>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BV_Secondary_FullColor_lrg_registered_CMYK_v2.png" id="72" name="Google Shape;72;p15"/>
          <p:cNvPicPr preferRelativeResize="0"/>
          <p:nvPr/>
        </p:nvPicPr>
        <p:blipFill rotWithShape="1">
          <a:blip r:embed="rId3">
            <a:alphaModFix/>
          </a:blip>
          <a:srcRect b="0" l="0" r="0" t="0"/>
          <a:stretch/>
        </p:blipFill>
        <p:spPr>
          <a:xfrm>
            <a:off x="7797799" y="4115439"/>
            <a:ext cx="1136651" cy="14704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V navy divider" showMasterSp="0">
  <p:cSld name="2_BV navy divider">
    <p:spTree>
      <p:nvGrpSpPr>
        <p:cNvPr id="73" name="Shape 73"/>
        <p:cNvGrpSpPr/>
        <p:nvPr/>
      </p:nvGrpSpPr>
      <p:grpSpPr>
        <a:xfrm>
          <a:off x="0" y="0"/>
          <a:ext cx="0" cy="0"/>
          <a:chOff x="0" y="0"/>
          <a:chExt cx="0" cy="0"/>
        </a:xfrm>
      </p:grpSpPr>
      <p:pic>
        <p:nvPicPr>
          <p:cNvPr descr="iStock_000021574496XLarge.jpg" id="74" name="Google Shape;74;p1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75" name="Google Shape;75;p16"/>
          <p:cNvSpPr txBox="1"/>
          <p:nvPr/>
        </p:nvSpPr>
        <p:spPr>
          <a:xfrm>
            <a:off x="0" y="2628900"/>
            <a:ext cx="9144000" cy="1716390"/>
          </a:xfrm>
          <a:prstGeom prst="rect">
            <a:avLst/>
          </a:prstGeom>
          <a:solidFill>
            <a:srgbClr val="003D4C"/>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76" name="Google Shape;76;p16"/>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BFBFBF"/>
              </a:buClr>
              <a:buSzPts val="650"/>
              <a:buFont typeface="Verdana"/>
              <a:buNone/>
            </a:pPr>
            <a:r>
              <a:rPr b="0" i="0" lang="en-US" sz="650" u="none" cap="none" strike="noStrike">
                <a:solidFill>
                  <a:srgbClr val="BFBFBF"/>
                </a:solidFill>
                <a:latin typeface="Verdana"/>
                <a:ea typeface="Verdana"/>
                <a:cs typeface="Verdana"/>
                <a:sym typeface="Verdana"/>
              </a:rPr>
              <a:t>Confidential and Proprietary. © 2015 Bazaarvoice, Inc. </a:t>
            </a:r>
            <a:endParaRPr/>
          </a:p>
        </p:txBody>
      </p:sp>
      <p:sp>
        <p:nvSpPr>
          <p:cNvPr id="77" name="Google Shape;77;p16"/>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BFBFBF"/>
                </a:solidFill>
                <a:latin typeface="Verdana"/>
                <a:ea typeface="Verdana"/>
                <a:cs typeface="Verdana"/>
                <a:sym typeface="Verdana"/>
              </a:rPr>
              <a:t>‹#›</a:t>
            </a:fld>
            <a:endParaRPr b="0" i="0" sz="650" u="none" cap="none" strike="noStrike">
              <a:solidFill>
                <a:srgbClr val="BFBFBF"/>
              </a:solidFill>
              <a:latin typeface="Verdana"/>
              <a:ea typeface="Verdana"/>
              <a:cs typeface="Verdana"/>
              <a:sym typeface="Verdana"/>
            </a:endParaRPr>
          </a:p>
        </p:txBody>
      </p:sp>
      <p:sp>
        <p:nvSpPr>
          <p:cNvPr id="78" name="Google Shape;78;p16"/>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BV_Secondary_FullColor_lrg_registered_CMYK_v2.png" id="79" name="Google Shape;79;p16"/>
          <p:cNvPicPr preferRelativeResize="0"/>
          <p:nvPr/>
        </p:nvPicPr>
        <p:blipFill rotWithShape="1">
          <a:blip r:embed="rId3">
            <a:alphaModFix/>
          </a:blip>
          <a:srcRect b="0" l="0" r="0" t="0"/>
          <a:stretch/>
        </p:blipFill>
        <p:spPr>
          <a:xfrm>
            <a:off x="7797799" y="4115439"/>
            <a:ext cx="1136651" cy="14704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range divider" showMasterSp="0">
  <p:cSld name="1_orange divider">
    <p:spTree>
      <p:nvGrpSpPr>
        <p:cNvPr id="80" name="Shape 80"/>
        <p:cNvGrpSpPr/>
        <p:nvPr/>
      </p:nvGrpSpPr>
      <p:grpSpPr>
        <a:xfrm>
          <a:off x="0" y="0"/>
          <a:ext cx="0" cy="0"/>
          <a:chOff x="0" y="0"/>
          <a:chExt cx="0" cy="0"/>
        </a:xfrm>
      </p:grpSpPr>
      <p:pic>
        <p:nvPicPr>
          <p:cNvPr descr="CUP0014021.JPG" id="81" name="Google Shape;81;p1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82" name="Google Shape;82;p17"/>
          <p:cNvSpPr txBox="1"/>
          <p:nvPr/>
        </p:nvSpPr>
        <p:spPr>
          <a:xfrm>
            <a:off x="0" y="2628900"/>
            <a:ext cx="9144000" cy="1716390"/>
          </a:xfrm>
          <a:prstGeom prst="rect">
            <a:avLst/>
          </a:prstGeom>
          <a:solidFill>
            <a:srgbClr val="003D4C"/>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83" name="Google Shape;83;p17"/>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84" name="Google Shape;84;p17"/>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sp>
        <p:nvSpPr>
          <p:cNvPr id="85" name="Google Shape;85;p17"/>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BV_Secondary_FullColor_lrg_registered_CMYK_v2.png" id="86" name="Google Shape;86;p17"/>
          <p:cNvPicPr preferRelativeResize="0"/>
          <p:nvPr/>
        </p:nvPicPr>
        <p:blipFill rotWithShape="1">
          <a:blip r:embed="rId3">
            <a:alphaModFix/>
          </a:blip>
          <a:srcRect b="0" l="0" r="0" t="0"/>
          <a:stretch/>
        </p:blipFill>
        <p:spPr>
          <a:xfrm>
            <a:off x="7797799" y="4115439"/>
            <a:ext cx="1136651" cy="14704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green divider" showMasterSp="0">
  <p:cSld name="2_green divider">
    <p:spTree>
      <p:nvGrpSpPr>
        <p:cNvPr id="87" name="Shape 87"/>
        <p:cNvGrpSpPr/>
        <p:nvPr/>
      </p:nvGrpSpPr>
      <p:grpSpPr>
        <a:xfrm>
          <a:off x="0" y="0"/>
          <a:ext cx="0" cy="0"/>
          <a:chOff x="0" y="0"/>
          <a:chExt cx="0" cy="0"/>
        </a:xfrm>
      </p:grpSpPr>
      <p:pic>
        <p:nvPicPr>
          <p:cNvPr descr="blogger-woman.jpg" id="88" name="Google Shape;88;p18"/>
          <p:cNvPicPr preferRelativeResize="0"/>
          <p:nvPr/>
        </p:nvPicPr>
        <p:blipFill rotWithShape="1">
          <a:blip r:embed="rId2">
            <a:alphaModFix/>
          </a:blip>
          <a:srcRect b="0" l="0" r="0" t="0"/>
          <a:stretch/>
        </p:blipFill>
        <p:spPr>
          <a:xfrm>
            <a:off x="-6350" y="0"/>
            <a:ext cx="9150350" cy="5143500"/>
          </a:xfrm>
          <a:prstGeom prst="rect">
            <a:avLst/>
          </a:prstGeom>
          <a:noFill/>
          <a:ln>
            <a:noFill/>
          </a:ln>
        </p:spPr>
      </p:pic>
      <p:sp>
        <p:nvSpPr>
          <p:cNvPr id="89" name="Google Shape;89;p18"/>
          <p:cNvSpPr txBox="1"/>
          <p:nvPr/>
        </p:nvSpPr>
        <p:spPr>
          <a:xfrm>
            <a:off x="0" y="2628900"/>
            <a:ext cx="9144000" cy="1716390"/>
          </a:xfrm>
          <a:prstGeom prst="rect">
            <a:avLst/>
          </a:prstGeom>
          <a:solidFill>
            <a:srgbClr val="003D4C"/>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90" name="Google Shape;90;p18"/>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666D22"/>
                </a:solidFill>
                <a:latin typeface="Verdana"/>
                <a:ea typeface="Verdana"/>
                <a:cs typeface="Verdana"/>
                <a:sym typeface="Verdana"/>
              </a:rPr>
              <a:t>‹#›</a:t>
            </a:fld>
            <a:endParaRPr b="0" i="0" sz="650" u="none" cap="none" strike="noStrike">
              <a:solidFill>
                <a:srgbClr val="666D22"/>
              </a:solidFill>
              <a:latin typeface="Verdana"/>
              <a:ea typeface="Verdana"/>
              <a:cs typeface="Verdana"/>
              <a:sym typeface="Verdana"/>
            </a:endParaRPr>
          </a:p>
        </p:txBody>
      </p:sp>
      <p:sp>
        <p:nvSpPr>
          <p:cNvPr id="91" name="Google Shape;91;p18"/>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8"/>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93" name="Google Shape;93;p18"/>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pic>
        <p:nvPicPr>
          <p:cNvPr descr="BV_Secondary_FullColor_lrg_registered_CMYK_v2.png" id="94" name="Google Shape;94;p18"/>
          <p:cNvPicPr preferRelativeResize="0"/>
          <p:nvPr/>
        </p:nvPicPr>
        <p:blipFill rotWithShape="1">
          <a:blip r:embed="rId3">
            <a:alphaModFix/>
          </a:blip>
          <a:srcRect b="0" l="0" r="0" t="0"/>
          <a:stretch/>
        </p:blipFill>
        <p:spPr>
          <a:xfrm>
            <a:off x="7797799" y="4115439"/>
            <a:ext cx="1136651" cy="14704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V navy divider" showMasterSp="0">
  <p:cSld name="1_BV navy divider">
    <p:spTree>
      <p:nvGrpSpPr>
        <p:cNvPr id="95" name="Shape 95"/>
        <p:cNvGrpSpPr/>
        <p:nvPr/>
      </p:nvGrpSpPr>
      <p:grpSpPr>
        <a:xfrm>
          <a:off x="0" y="0"/>
          <a:ext cx="0" cy="0"/>
          <a:chOff x="0" y="0"/>
          <a:chExt cx="0" cy="0"/>
        </a:xfrm>
      </p:grpSpPr>
      <p:sp>
        <p:nvSpPr>
          <p:cNvPr id="96" name="Google Shape;96;p19"/>
          <p:cNvSpPr/>
          <p:nvPr/>
        </p:nvSpPr>
        <p:spPr>
          <a:xfrm>
            <a:off x="0" y="0"/>
            <a:ext cx="9144000" cy="5143500"/>
          </a:xfrm>
          <a:prstGeom prst="rect">
            <a:avLst/>
          </a:prstGeom>
          <a:gradFill>
            <a:gsLst>
              <a:gs pos="0">
                <a:srgbClr val="9E0011">
                  <a:alpha val="0"/>
                </a:srgbClr>
              </a:gs>
              <a:gs pos="100000">
                <a:srgbClr val="0C0C0C">
                  <a:alpha val="14901"/>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00" u="none" cap="none" strike="noStrike">
              <a:solidFill>
                <a:schemeClr val="lt1"/>
              </a:solidFill>
              <a:latin typeface="Arial"/>
              <a:ea typeface="Arial"/>
              <a:cs typeface="Arial"/>
              <a:sym typeface="Arial"/>
            </a:endParaRPr>
          </a:p>
        </p:txBody>
      </p:sp>
      <p:sp>
        <p:nvSpPr>
          <p:cNvPr id="97" name="Google Shape;97;p19"/>
          <p:cNvSpPr txBox="1"/>
          <p:nvPr/>
        </p:nvSpPr>
        <p:spPr>
          <a:xfrm>
            <a:off x="0" y="2628900"/>
            <a:ext cx="9144000" cy="1716390"/>
          </a:xfrm>
          <a:prstGeom prst="rect">
            <a:avLst/>
          </a:prstGeom>
          <a:solidFill>
            <a:schemeClr val="dk2"/>
          </a:solidFill>
          <a:ln>
            <a:noFill/>
          </a:ln>
        </p:spPr>
        <p:txBody>
          <a:bodyPr anchorCtr="0" anchor="ctr" bIns="45700" lIns="91425" spcFirstLastPara="1" rIns="91425" wrap="square" tIns="45700">
            <a:noAutofit/>
          </a:bodyPr>
          <a:lstStyle/>
          <a:p>
            <a:pPr indent="0" lvl="0" marL="457177" marR="0" rtl="0" algn="l">
              <a:lnSpc>
                <a:spcPct val="181818"/>
              </a:lnSpc>
              <a:spcBef>
                <a:spcPts val="0"/>
              </a:spcBef>
              <a:spcAft>
                <a:spcPts val="0"/>
              </a:spcAft>
              <a:buClr>
                <a:srgbClr val="00AB8E"/>
              </a:buClr>
              <a:buSzPts val="2200"/>
              <a:buFont typeface="Arial"/>
              <a:buNone/>
            </a:pPr>
            <a:r>
              <a:t/>
            </a:r>
            <a:endParaRPr b="1" i="0" sz="2200" u="none" cap="none" strike="noStrike">
              <a:solidFill>
                <a:schemeClr val="lt1"/>
              </a:solidFill>
              <a:latin typeface="Rockwell"/>
              <a:ea typeface="Rockwell"/>
              <a:cs typeface="Rockwell"/>
              <a:sym typeface="Rockwell"/>
            </a:endParaRPr>
          </a:p>
        </p:txBody>
      </p:sp>
      <p:sp>
        <p:nvSpPr>
          <p:cNvPr id="98" name="Google Shape;98;p19"/>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BFBFBF"/>
              </a:buClr>
              <a:buSzPts val="650"/>
              <a:buFont typeface="Verdana"/>
              <a:buNone/>
            </a:pPr>
            <a:r>
              <a:rPr b="0" i="0" lang="en-US" sz="650" u="none" cap="none" strike="noStrike">
                <a:solidFill>
                  <a:srgbClr val="BFBFBF"/>
                </a:solidFill>
                <a:latin typeface="Verdana"/>
                <a:ea typeface="Verdana"/>
                <a:cs typeface="Verdana"/>
                <a:sym typeface="Verdana"/>
              </a:rPr>
              <a:t>Confidential and Proprietary. © 2015 Bazaarvoice, Inc. </a:t>
            </a:r>
            <a:endParaRPr/>
          </a:p>
        </p:txBody>
      </p:sp>
      <p:sp>
        <p:nvSpPr>
          <p:cNvPr id="99" name="Google Shape;99;p19"/>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BFBFBF"/>
                </a:solidFill>
                <a:latin typeface="Verdana"/>
                <a:ea typeface="Verdana"/>
                <a:cs typeface="Verdana"/>
                <a:sym typeface="Verdana"/>
              </a:rPr>
              <a:t>‹#›</a:t>
            </a:fld>
            <a:endParaRPr b="0" i="0" sz="650" u="none" cap="none" strike="noStrike">
              <a:solidFill>
                <a:srgbClr val="BFBFBF"/>
              </a:solidFill>
              <a:latin typeface="Verdana"/>
              <a:ea typeface="Verdana"/>
              <a:cs typeface="Verdana"/>
              <a:sym typeface="Verdana"/>
            </a:endParaRPr>
          </a:p>
        </p:txBody>
      </p:sp>
      <p:sp>
        <p:nvSpPr>
          <p:cNvPr id="100" name="Google Shape;100;p19"/>
          <p:cNvSpPr txBox="1"/>
          <p:nvPr>
            <p:ph type="title"/>
          </p:nvPr>
        </p:nvSpPr>
        <p:spPr>
          <a:xfrm>
            <a:off x="255410" y="3048000"/>
            <a:ext cx="869809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2F2F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BV_Secondary_FullColor_lrg_registered_CMYK_v2.png" id="101" name="Google Shape;101;p19"/>
          <p:cNvPicPr preferRelativeResize="0"/>
          <p:nvPr/>
        </p:nvPicPr>
        <p:blipFill rotWithShape="1">
          <a:blip r:embed="rId2">
            <a:alphaModFix/>
          </a:blip>
          <a:srcRect b="0" l="0" r="0" t="0"/>
          <a:stretch/>
        </p:blipFill>
        <p:spPr>
          <a:xfrm>
            <a:off x="7797799" y="4890139"/>
            <a:ext cx="1136651" cy="14704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bullets layout" showMasterSp="0">
  <p:cSld name="1_title and bullets layout">
    <p:spTree>
      <p:nvGrpSpPr>
        <p:cNvPr id="102" name="Shape 102"/>
        <p:cNvGrpSpPr/>
        <p:nvPr/>
      </p:nvGrpSpPr>
      <p:grpSpPr>
        <a:xfrm>
          <a:off x="0" y="0"/>
          <a:ext cx="0" cy="0"/>
          <a:chOff x="0" y="0"/>
          <a:chExt cx="0" cy="0"/>
        </a:xfrm>
      </p:grpSpPr>
      <p:sp>
        <p:nvSpPr>
          <p:cNvPr id="103" name="Google Shape;103;p20"/>
          <p:cNvSpPr txBox="1"/>
          <p:nvPr>
            <p:ph idx="1" type="body"/>
          </p:nvPr>
        </p:nvSpPr>
        <p:spPr>
          <a:xfrm>
            <a:off x="215900" y="1155700"/>
            <a:ext cx="8743950" cy="3575050"/>
          </a:xfrm>
          <a:prstGeom prst="rect">
            <a:avLst/>
          </a:prstGeom>
          <a:noFill/>
          <a:ln>
            <a:noFill/>
          </a:ln>
        </p:spPr>
        <p:txBody>
          <a:bodyPr anchorCtr="0" anchor="t" bIns="45700" lIns="91425" spcFirstLastPara="1" rIns="91425" wrap="square" tIns="45700">
            <a:normAutofit/>
          </a:bodyPr>
          <a:lstStyle>
            <a:lvl1pPr indent="-342900" lvl="0" marL="457200" algn="l">
              <a:spcBef>
                <a:spcPts val="0"/>
              </a:spcBef>
              <a:spcAft>
                <a:spcPts val="0"/>
              </a:spcAft>
              <a:buSzPts val="1800"/>
              <a:buChar char="•"/>
              <a:defRPr/>
            </a:lvl1pPr>
            <a:lvl2pPr indent="-342900" lvl="1" marL="914400" algn="l">
              <a:spcBef>
                <a:spcPts val="1200"/>
              </a:spcBef>
              <a:spcAft>
                <a:spcPts val="0"/>
              </a:spcAft>
              <a:buSzPts val="1800"/>
              <a:buChar char="•"/>
              <a:defRPr/>
            </a:lvl2pPr>
            <a:lvl3pPr indent="-342900" lvl="2" marL="1371600" algn="l">
              <a:spcBef>
                <a:spcPts val="1200"/>
              </a:spcBef>
              <a:spcAft>
                <a:spcPts val="0"/>
              </a:spcAft>
              <a:buSzPts val="1800"/>
              <a:buChar char="•"/>
              <a:defRPr/>
            </a:lvl3pPr>
            <a:lvl4pPr indent="-342900" lvl="3" marL="1828800" algn="l">
              <a:spcBef>
                <a:spcPts val="1200"/>
              </a:spcBef>
              <a:spcAft>
                <a:spcPts val="0"/>
              </a:spcAft>
              <a:buSzPts val="1800"/>
              <a:buChar char="•"/>
              <a:defRPr/>
            </a:lvl4pPr>
            <a:lvl5pPr indent="-342900" lvl="4" marL="2286000" algn="l">
              <a:spcBef>
                <a:spcPts val="1200"/>
              </a:spcBef>
              <a:spcAft>
                <a:spcPts val="0"/>
              </a:spcAft>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4" name="Google Shape;104;p20"/>
          <p:cNvSpPr txBox="1"/>
          <p:nvPr>
            <p:ph type="title"/>
          </p:nvPr>
        </p:nvSpPr>
        <p:spPr>
          <a:xfrm>
            <a:off x="215900" y="206375"/>
            <a:ext cx="8680450" cy="8572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BV_Secondary_FullColor_lrg_registered_CMYK_v2.png" id="105" name="Google Shape;105;p20"/>
          <p:cNvPicPr preferRelativeResize="0"/>
          <p:nvPr/>
        </p:nvPicPr>
        <p:blipFill rotWithShape="1">
          <a:blip r:embed="rId2">
            <a:alphaModFix/>
          </a:blip>
          <a:srcRect b="0" l="0" r="0" t="0"/>
          <a:stretch/>
        </p:blipFill>
        <p:spPr>
          <a:xfrm>
            <a:off x="7797799" y="4890139"/>
            <a:ext cx="1136651" cy="147044"/>
          </a:xfrm>
          <a:prstGeom prst="rect">
            <a:avLst/>
          </a:prstGeom>
          <a:noFill/>
          <a:ln>
            <a:noFill/>
          </a:ln>
        </p:spPr>
      </p:pic>
      <p:sp>
        <p:nvSpPr>
          <p:cNvPr id="106" name="Google Shape;106;p20"/>
          <p:cNvSpPr/>
          <p:nvPr/>
        </p:nvSpPr>
        <p:spPr>
          <a:xfrm>
            <a:off x="0" y="0"/>
            <a:ext cx="9144000" cy="114300"/>
          </a:xfrm>
          <a:prstGeom prst="rect">
            <a:avLst/>
          </a:prstGeom>
          <a:solidFill>
            <a:srgbClr val="00A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00" u="none" cap="none" strike="noStrike">
              <a:solidFill>
                <a:schemeClr val="lt1"/>
              </a:solidFill>
              <a:latin typeface="Verdana"/>
              <a:ea typeface="Verdana"/>
              <a:cs typeface="Verdana"/>
              <a:sym typeface="Verdana"/>
            </a:endParaRPr>
          </a:p>
        </p:txBody>
      </p:sp>
      <p:sp>
        <p:nvSpPr>
          <p:cNvPr id="107" name="Google Shape;107;p20"/>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108" name="Google Shape;108;p20"/>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s only slide, no title" showMasterSp="0">
  <p:cSld name="1_images only slide, no title">
    <p:spTree>
      <p:nvGrpSpPr>
        <p:cNvPr id="109" name="Shape 109"/>
        <p:cNvGrpSpPr/>
        <p:nvPr/>
      </p:nvGrpSpPr>
      <p:grpSpPr>
        <a:xfrm>
          <a:off x="0" y="0"/>
          <a:ext cx="0" cy="0"/>
          <a:chOff x="0" y="0"/>
          <a:chExt cx="0" cy="0"/>
        </a:xfrm>
      </p:grpSpPr>
      <p:sp>
        <p:nvSpPr>
          <p:cNvPr id="110" name="Google Shape;110;p21"/>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111" name="Google Shape;111;p21"/>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pic>
        <p:nvPicPr>
          <p:cNvPr descr="BV_Secondary_FullColor_lrg_registered_CMYK_v2.png" id="112" name="Google Shape;112;p21"/>
          <p:cNvPicPr preferRelativeResize="0"/>
          <p:nvPr/>
        </p:nvPicPr>
        <p:blipFill rotWithShape="1">
          <a:blip r:embed="rId2">
            <a:alphaModFix/>
          </a:blip>
          <a:srcRect b="0" l="0" r="0" t="0"/>
          <a:stretch/>
        </p:blipFill>
        <p:spPr>
          <a:xfrm>
            <a:off x="7797799" y="4890139"/>
            <a:ext cx="1136651" cy="14704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showMasterSp="0">
  <p:cSld name="quote slide">
    <p:spTree>
      <p:nvGrpSpPr>
        <p:cNvPr id="113" name="Shape 113"/>
        <p:cNvGrpSpPr/>
        <p:nvPr/>
      </p:nvGrpSpPr>
      <p:grpSpPr>
        <a:xfrm>
          <a:off x="0" y="0"/>
          <a:ext cx="0" cy="0"/>
          <a:chOff x="0" y="0"/>
          <a:chExt cx="0" cy="0"/>
        </a:xfrm>
      </p:grpSpPr>
      <p:sp>
        <p:nvSpPr>
          <p:cNvPr id="114" name="Google Shape;114;p22"/>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115" name="Google Shape;115;p22"/>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pic>
        <p:nvPicPr>
          <p:cNvPr descr="BV_Secondary_FullColor_lrg_registered_CMYK_v2.png" id="116" name="Google Shape;116;p22"/>
          <p:cNvPicPr preferRelativeResize="0"/>
          <p:nvPr/>
        </p:nvPicPr>
        <p:blipFill rotWithShape="1">
          <a:blip r:embed="rId2">
            <a:alphaModFix/>
          </a:blip>
          <a:srcRect b="0" l="0" r="0" t="0"/>
          <a:stretch/>
        </p:blipFill>
        <p:spPr>
          <a:xfrm>
            <a:off x="7797799" y="4890139"/>
            <a:ext cx="1136651" cy="147044"/>
          </a:xfrm>
          <a:prstGeom prst="rect">
            <a:avLst/>
          </a:prstGeom>
          <a:noFill/>
          <a:ln>
            <a:noFill/>
          </a:ln>
        </p:spPr>
      </p:pic>
      <p:sp>
        <p:nvSpPr>
          <p:cNvPr id="117" name="Google Shape;117;p22"/>
          <p:cNvSpPr/>
          <p:nvPr/>
        </p:nvSpPr>
        <p:spPr>
          <a:xfrm>
            <a:off x="0" y="0"/>
            <a:ext cx="9144000" cy="5143500"/>
          </a:xfrm>
          <a:prstGeom prst="rect">
            <a:avLst/>
          </a:prstGeom>
          <a:gradFill>
            <a:gsLst>
              <a:gs pos="0">
                <a:srgbClr val="9E0011">
                  <a:alpha val="0"/>
                </a:srgbClr>
              </a:gs>
              <a:gs pos="70000">
                <a:srgbClr val="9E0011">
                  <a:alpha val="0"/>
                </a:srgbClr>
              </a:gs>
              <a:gs pos="100000">
                <a:srgbClr val="0C0C0C">
                  <a:alpha val="15686"/>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no green header bar" showMasterSp="0">
  <p:cSld name="title only, no green header bar">
    <p:spTree>
      <p:nvGrpSpPr>
        <p:cNvPr id="118" name="Shape 118"/>
        <p:cNvGrpSpPr/>
        <p:nvPr/>
      </p:nvGrpSpPr>
      <p:grpSpPr>
        <a:xfrm>
          <a:off x="0" y="0"/>
          <a:ext cx="0" cy="0"/>
          <a:chOff x="0" y="0"/>
          <a:chExt cx="0" cy="0"/>
        </a:xfrm>
      </p:grpSpPr>
      <p:sp>
        <p:nvSpPr>
          <p:cNvPr id="119" name="Google Shape;119;p23"/>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120" name="Google Shape;120;p23"/>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sp>
        <p:nvSpPr>
          <p:cNvPr id="121" name="Google Shape;121;p23"/>
          <p:cNvSpPr txBox="1"/>
          <p:nvPr>
            <p:ph type="title"/>
          </p:nvPr>
        </p:nvSpPr>
        <p:spPr>
          <a:xfrm>
            <a:off x="215900" y="206375"/>
            <a:ext cx="8680450" cy="8572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BV_Secondary_FullColor_lrg_registered_CMYK_v2.png" id="122" name="Google Shape;122;p23"/>
          <p:cNvPicPr preferRelativeResize="0"/>
          <p:nvPr/>
        </p:nvPicPr>
        <p:blipFill rotWithShape="1">
          <a:blip r:embed="rId2">
            <a:alphaModFix/>
          </a:blip>
          <a:srcRect b="0" l="0" r="0" t="0"/>
          <a:stretch/>
        </p:blipFill>
        <p:spPr>
          <a:xfrm>
            <a:off x="7797799" y="4890139"/>
            <a:ext cx="1136651" cy="14704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no green header bar" showMasterSp="0">
  <p:cSld name="1_title only, no green header bar">
    <p:spTree>
      <p:nvGrpSpPr>
        <p:cNvPr id="123" name="Shape 123"/>
        <p:cNvGrpSpPr/>
        <p:nvPr/>
      </p:nvGrpSpPr>
      <p:grpSpPr>
        <a:xfrm>
          <a:off x="0" y="0"/>
          <a:ext cx="0" cy="0"/>
          <a:chOff x="0" y="0"/>
          <a:chExt cx="0" cy="0"/>
        </a:xfrm>
      </p:grpSpPr>
      <p:sp>
        <p:nvSpPr>
          <p:cNvPr id="124" name="Google Shape;124;p24"/>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125" name="Google Shape;125;p24"/>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sp>
        <p:nvSpPr>
          <p:cNvPr id="126" name="Google Shape;126;p24"/>
          <p:cNvSpPr txBox="1"/>
          <p:nvPr>
            <p:ph type="title"/>
          </p:nvPr>
        </p:nvSpPr>
        <p:spPr>
          <a:xfrm>
            <a:off x="215900" y="206375"/>
            <a:ext cx="8680450" cy="8572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BV_Secondary_FullColor_lrg_registered_CMYK_v2.png" id="127" name="Google Shape;127;p24"/>
          <p:cNvPicPr preferRelativeResize="0"/>
          <p:nvPr/>
        </p:nvPicPr>
        <p:blipFill rotWithShape="1">
          <a:blip r:embed="rId2">
            <a:alphaModFix/>
          </a:blip>
          <a:srcRect b="0" l="0" r="0" t="0"/>
          <a:stretch/>
        </p:blipFill>
        <p:spPr>
          <a:xfrm>
            <a:off x="7797799" y="4890139"/>
            <a:ext cx="1136651" cy="147044"/>
          </a:xfrm>
          <a:prstGeom prst="rect">
            <a:avLst/>
          </a:prstGeom>
          <a:noFill/>
          <a:ln>
            <a:noFill/>
          </a:ln>
        </p:spPr>
      </p:pic>
      <p:sp>
        <p:nvSpPr>
          <p:cNvPr id="128" name="Google Shape;128;p24"/>
          <p:cNvSpPr/>
          <p:nvPr/>
        </p:nvSpPr>
        <p:spPr>
          <a:xfrm>
            <a:off x="0" y="0"/>
            <a:ext cx="9144000" cy="11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00" u="none" cap="none" strike="noStrike">
              <a:solidFill>
                <a:schemeClr val="lt1"/>
              </a:solidFill>
              <a:latin typeface="Verdana"/>
              <a:ea typeface="Verdana"/>
              <a:cs typeface="Verdana"/>
              <a:sym typeface="Verdana"/>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green header bar" showMasterSp="0">
  <p:cSld name="title with green header bar">
    <p:spTree>
      <p:nvGrpSpPr>
        <p:cNvPr id="129" name="Shape 129"/>
        <p:cNvGrpSpPr/>
        <p:nvPr/>
      </p:nvGrpSpPr>
      <p:grpSpPr>
        <a:xfrm>
          <a:off x="0" y="0"/>
          <a:ext cx="0" cy="0"/>
          <a:chOff x="0" y="0"/>
          <a:chExt cx="0" cy="0"/>
        </a:xfrm>
      </p:grpSpPr>
      <p:sp>
        <p:nvSpPr>
          <p:cNvPr id="130" name="Google Shape;130;p25"/>
          <p:cNvSpPr/>
          <p:nvPr/>
        </p:nvSpPr>
        <p:spPr>
          <a:xfrm>
            <a:off x="0" y="0"/>
            <a:ext cx="9144000" cy="114300"/>
          </a:xfrm>
          <a:prstGeom prst="rect">
            <a:avLst/>
          </a:prstGeom>
          <a:solidFill>
            <a:srgbClr val="00A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00" u="none" cap="none" strike="noStrike">
              <a:solidFill>
                <a:schemeClr val="lt1"/>
              </a:solidFill>
              <a:latin typeface="Verdana"/>
              <a:ea typeface="Verdana"/>
              <a:cs typeface="Verdana"/>
              <a:sym typeface="Verdana"/>
            </a:endParaRPr>
          </a:p>
        </p:txBody>
      </p:sp>
      <p:sp>
        <p:nvSpPr>
          <p:cNvPr id="131" name="Google Shape;131;p25"/>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132" name="Google Shape;132;p25"/>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sp>
        <p:nvSpPr>
          <p:cNvPr id="133" name="Google Shape;133;p25"/>
          <p:cNvSpPr txBox="1"/>
          <p:nvPr>
            <p:ph type="title"/>
          </p:nvPr>
        </p:nvSpPr>
        <p:spPr>
          <a:xfrm>
            <a:off x="215900" y="206375"/>
            <a:ext cx="8680450" cy="8572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BV_Secondary_FullColor_lrg_registered_CMYK_v2.png" id="134" name="Google Shape;134;p25"/>
          <p:cNvPicPr preferRelativeResize="0"/>
          <p:nvPr/>
        </p:nvPicPr>
        <p:blipFill rotWithShape="1">
          <a:blip r:embed="rId2">
            <a:alphaModFix/>
          </a:blip>
          <a:srcRect b="0" l="0" r="0" t="0"/>
          <a:stretch/>
        </p:blipFill>
        <p:spPr>
          <a:xfrm>
            <a:off x="7797799" y="4890139"/>
            <a:ext cx="1136651" cy="14704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2.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p:nvPr/>
        </p:nvSpPr>
        <p:spPr>
          <a:xfrm>
            <a:off x="0" y="0"/>
            <a:ext cx="9144000" cy="114300"/>
          </a:xfrm>
          <a:prstGeom prst="rect">
            <a:avLst/>
          </a:prstGeom>
          <a:solidFill>
            <a:srgbClr val="00AB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00" u="none" cap="none" strike="noStrike">
              <a:solidFill>
                <a:schemeClr val="lt1"/>
              </a:solidFill>
              <a:latin typeface="Verdana"/>
              <a:ea typeface="Verdana"/>
              <a:cs typeface="Verdana"/>
              <a:sym typeface="Verdana"/>
            </a:endParaRPr>
          </a:p>
        </p:txBody>
      </p:sp>
      <p:sp>
        <p:nvSpPr>
          <p:cNvPr id="11" name="Google Shape;11;p6"/>
          <p:cNvSpPr txBox="1"/>
          <p:nvPr/>
        </p:nvSpPr>
        <p:spPr>
          <a:xfrm>
            <a:off x="762000" y="4933248"/>
            <a:ext cx="2395576" cy="100027"/>
          </a:xfrm>
          <a:prstGeom prst="rect">
            <a:avLst/>
          </a:prstGeom>
          <a:noFill/>
          <a:ln>
            <a:noFill/>
          </a:ln>
        </p:spPr>
        <p:txBody>
          <a:bodyPr anchorCtr="0" anchor="ctr" bIns="0" lIns="91425" spcFirstLastPara="1" rIns="0" wrap="square" tIns="0">
            <a:spAutoFit/>
          </a:bodyPr>
          <a:lstStyle/>
          <a:p>
            <a:pPr indent="0" lvl="0" marL="0" marR="0" rtl="0" algn="l">
              <a:lnSpc>
                <a:spcPct val="100000"/>
              </a:lnSpc>
              <a:spcBef>
                <a:spcPts val="0"/>
              </a:spcBef>
              <a:spcAft>
                <a:spcPts val="0"/>
              </a:spcAft>
              <a:buClr>
                <a:srgbClr val="D8D8D8"/>
              </a:buClr>
              <a:buSzPts val="650"/>
              <a:buFont typeface="Verdana"/>
              <a:buNone/>
            </a:pPr>
            <a:r>
              <a:rPr b="0" i="0" lang="en-US" sz="650" u="none" cap="none" strike="noStrike">
                <a:solidFill>
                  <a:srgbClr val="D8D8D8"/>
                </a:solidFill>
                <a:latin typeface="Verdana"/>
                <a:ea typeface="Verdana"/>
                <a:cs typeface="Verdana"/>
                <a:sym typeface="Verdana"/>
              </a:rPr>
              <a:t>Confidential and Proprietary. © 2015 Bazaarvoice, Inc. </a:t>
            </a:r>
            <a:endParaRPr/>
          </a:p>
        </p:txBody>
      </p:sp>
      <p:sp>
        <p:nvSpPr>
          <p:cNvPr id="12" name="Google Shape;12;p6"/>
          <p:cNvSpPr txBox="1"/>
          <p:nvPr/>
        </p:nvSpPr>
        <p:spPr>
          <a:xfrm>
            <a:off x="2" y="4870450"/>
            <a:ext cx="557212"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650" u="none" cap="none" strike="noStrike">
                <a:solidFill>
                  <a:srgbClr val="D8D8D8"/>
                </a:solidFill>
                <a:latin typeface="Verdana"/>
                <a:ea typeface="Verdana"/>
                <a:cs typeface="Verdana"/>
                <a:sym typeface="Verdana"/>
              </a:rPr>
              <a:t>‹#›</a:t>
            </a:fld>
            <a:endParaRPr b="0" i="0" sz="650" u="none" cap="none" strike="noStrike">
              <a:solidFill>
                <a:srgbClr val="D8D8D8"/>
              </a:solidFill>
              <a:latin typeface="Verdana"/>
              <a:ea typeface="Verdana"/>
              <a:cs typeface="Verdana"/>
              <a:sym typeface="Verdana"/>
            </a:endParaRPr>
          </a:p>
        </p:txBody>
      </p:sp>
      <p:sp>
        <p:nvSpPr>
          <p:cNvPr id="13" name="Google Shape;13;p6"/>
          <p:cNvSpPr txBox="1"/>
          <p:nvPr>
            <p:ph type="title"/>
          </p:nvPr>
        </p:nvSpPr>
        <p:spPr>
          <a:xfrm>
            <a:off x="215900" y="206375"/>
            <a:ext cx="8680450" cy="85725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1" i="0" sz="2800" u="none" cap="none" strike="noStrike">
                <a:solidFill>
                  <a:schemeClr val="dk2"/>
                </a:solidFill>
                <a:latin typeface="Rockwell"/>
                <a:ea typeface="Rockwell"/>
                <a:cs typeface="Rockwell"/>
                <a:sym typeface="Rockwell"/>
              </a:defRPr>
            </a:lvl1pPr>
            <a:lvl2pPr lvl="1" marR="0" rtl="0" algn="l">
              <a:spcBef>
                <a:spcPts val="0"/>
              </a:spcBef>
              <a:spcAft>
                <a:spcPts val="0"/>
              </a:spcAft>
              <a:buSzPts val="1400"/>
              <a:buNone/>
              <a:defRPr b="1" i="0" sz="3600" u="none" cap="none" strike="noStrike">
                <a:solidFill>
                  <a:srgbClr val="00AB8E"/>
                </a:solidFill>
                <a:latin typeface="Calibri"/>
                <a:ea typeface="Calibri"/>
                <a:cs typeface="Calibri"/>
                <a:sym typeface="Calibri"/>
              </a:defRPr>
            </a:lvl2pPr>
            <a:lvl3pPr lvl="2" marR="0" rtl="0" algn="l">
              <a:spcBef>
                <a:spcPts val="0"/>
              </a:spcBef>
              <a:spcAft>
                <a:spcPts val="0"/>
              </a:spcAft>
              <a:buSzPts val="1400"/>
              <a:buNone/>
              <a:defRPr b="1" i="0" sz="3600" u="none" cap="none" strike="noStrike">
                <a:solidFill>
                  <a:srgbClr val="00AB8E"/>
                </a:solidFill>
                <a:latin typeface="Calibri"/>
                <a:ea typeface="Calibri"/>
                <a:cs typeface="Calibri"/>
                <a:sym typeface="Calibri"/>
              </a:defRPr>
            </a:lvl3pPr>
            <a:lvl4pPr lvl="3" marR="0" rtl="0" algn="l">
              <a:spcBef>
                <a:spcPts val="0"/>
              </a:spcBef>
              <a:spcAft>
                <a:spcPts val="0"/>
              </a:spcAft>
              <a:buSzPts val="1400"/>
              <a:buNone/>
              <a:defRPr b="1" i="0" sz="3600" u="none" cap="none" strike="noStrike">
                <a:solidFill>
                  <a:srgbClr val="00AB8E"/>
                </a:solidFill>
                <a:latin typeface="Calibri"/>
                <a:ea typeface="Calibri"/>
                <a:cs typeface="Calibri"/>
                <a:sym typeface="Calibri"/>
              </a:defRPr>
            </a:lvl4pPr>
            <a:lvl5pPr lvl="4" marR="0" rtl="0" algn="l">
              <a:spcBef>
                <a:spcPts val="0"/>
              </a:spcBef>
              <a:spcAft>
                <a:spcPts val="0"/>
              </a:spcAft>
              <a:buSzPts val="1400"/>
              <a:buNone/>
              <a:defRPr b="1" i="0" sz="3600" u="none" cap="none" strike="noStrike">
                <a:solidFill>
                  <a:srgbClr val="00AB8E"/>
                </a:solidFill>
                <a:latin typeface="Calibri"/>
                <a:ea typeface="Calibri"/>
                <a:cs typeface="Calibri"/>
                <a:sym typeface="Calibri"/>
              </a:defRPr>
            </a:lvl5pPr>
            <a:lvl6pPr lvl="5" marR="0" rtl="0" algn="l">
              <a:spcBef>
                <a:spcPts val="0"/>
              </a:spcBef>
              <a:spcAft>
                <a:spcPts val="0"/>
              </a:spcAft>
              <a:buSzPts val="1400"/>
              <a:buNone/>
              <a:defRPr b="1" i="0" sz="3600" u="none" cap="none" strike="noStrike">
                <a:solidFill>
                  <a:srgbClr val="00AB8E"/>
                </a:solidFill>
                <a:latin typeface="Calibri"/>
                <a:ea typeface="Calibri"/>
                <a:cs typeface="Calibri"/>
                <a:sym typeface="Calibri"/>
              </a:defRPr>
            </a:lvl6pPr>
            <a:lvl7pPr lvl="6" marR="0" rtl="0" algn="l">
              <a:spcBef>
                <a:spcPts val="0"/>
              </a:spcBef>
              <a:spcAft>
                <a:spcPts val="0"/>
              </a:spcAft>
              <a:buSzPts val="1400"/>
              <a:buNone/>
              <a:defRPr b="1" i="0" sz="3600" u="none" cap="none" strike="noStrike">
                <a:solidFill>
                  <a:srgbClr val="00AB8E"/>
                </a:solidFill>
                <a:latin typeface="Calibri"/>
                <a:ea typeface="Calibri"/>
                <a:cs typeface="Calibri"/>
                <a:sym typeface="Calibri"/>
              </a:defRPr>
            </a:lvl7pPr>
            <a:lvl8pPr lvl="7" marR="0" rtl="0" algn="l">
              <a:spcBef>
                <a:spcPts val="0"/>
              </a:spcBef>
              <a:spcAft>
                <a:spcPts val="0"/>
              </a:spcAft>
              <a:buSzPts val="1400"/>
              <a:buNone/>
              <a:defRPr b="1" i="0" sz="3600" u="none" cap="none" strike="noStrike">
                <a:solidFill>
                  <a:srgbClr val="00AB8E"/>
                </a:solidFill>
                <a:latin typeface="Calibri"/>
                <a:ea typeface="Calibri"/>
                <a:cs typeface="Calibri"/>
                <a:sym typeface="Calibri"/>
              </a:defRPr>
            </a:lvl8pPr>
            <a:lvl9pPr lvl="8" marR="0" rtl="0" algn="l">
              <a:spcBef>
                <a:spcPts val="0"/>
              </a:spcBef>
              <a:spcAft>
                <a:spcPts val="0"/>
              </a:spcAft>
              <a:buSzPts val="1400"/>
              <a:buNone/>
              <a:defRPr b="1" i="0" sz="3600" u="none" cap="none" strike="noStrike">
                <a:solidFill>
                  <a:srgbClr val="00AB8E"/>
                </a:solidFill>
                <a:latin typeface="Calibri"/>
                <a:ea typeface="Calibri"/>
                <a:cs typeface="Calibri"/>
                <a:sym typeface="Calibri"/>
              </a:defRPr>
            </a:lvl9pPr>
          </a:lstStyle>
          <a:p/>
        </p:txBody>
      </p:sp>
      <p:sp>
        <p:nvSpPr>
          <p:cNvPr id="14" name="Google Shape;14;p6"/>
          <p:cNvSpPr txBox="1"/>
          <p:nvPr>
            <p:ph idx="1" type="body"/>
          </p:nvPr>
        </p:nvSpPr>
        <p:spPr>
          <a:xfrm>
            <a:off x="215900" y="1149350"/>
            <a:ext cx="8686800" cy="3444875"/>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0"/>
              </a:spcBef>
              <a:spcAft>
                <a:spcPts val="0"/>
              </a:spcAft>
              <a:buClr>
                <a:srgbClr val="00AB8E"/>
              </a:buClr>
              <a:buSzPts val="1800"/>
              <a:buFont typeface="Arial"/>
              <a:buChar char="•"/>
              <a:defRPr b="0" i="0" sz="1800" u="none" cap="none" strike="noStrike">
                <a:solidFill>
                  <a:schemeClr val="dk2"/>
                </a:solidFill>
                <a:latin typeface="Verdana"/>
                <a:ea typeface="Verdana"/>
                <a:cs typeface="Verdana"/>
                <a:sym typeface="Verdana"/>
              </a:defRPr>
            </a:lvl1pPr>
            <a:lvl2pPr indent="-330200" lvl="1" marL="914400" marR="0" rtl="0" algn="l">
              <a:spcBef>
                <a:spcPts val="1200"/>
              </a:spcBef>
              <a:spcAft>
                <a:spcPts val="0"/>
              </a:spcAft>
              <a:buClr>
                <a:srgbClr val="00AB8E"/>
              </a:buClr>
              <a:buSzPts val="1600"/>
              <a:buFont typeface="Arial"/>
              <a:buChar char="•"/>
              <a:defRPr b="0" i="0" sz="1600" u="none" cap="none" strike="noStrike">
                <a:solidFill>
                  <a:schemeClr val="dk2"/>
                </a:solidFill>
                <a:latin typeface="Verdana"/>
                <a:ea typeface="Verdana"/>
                <a:cs typeface="Verdana"/>
                <a:sym typeface="Verdana"/>
              </a:defRPr>
            </a:lvl2pPr>
            <a:lvl3pPr indent="-317500" lvl="2" marL="1371600" marR="0" rtl="0" algn="l">
              <a:spcBef>
                <a:spcPts val="1200"/>
              </a:spcBef>
              <a:spcAft>
                <a:spcPts val="0"/>
              </a:spcAft>
              <a:buClr>
                <a:srgbClr val="00AB8E"/>
              </a:buClr>
              <a:buSzPts val="1400"/>
              <a:buFont typeface="Arial"/>
              <a:buChar char="•"/>
              <a:defRPr b="0" i="0" sz="1400" u="none" cap="none" strike="noStrike">
                <a:solidFill>
                  <a:schemeClr val="dk2"/>
                </a:solidFill>
                <a:latin typeface="Verdana"/>
                <a:ea typeface="Verdana"/>
                <a:cs typeface="Verdana"/>
                <a:sym typeface="Verdana"/>
              </a:defRPr>
            </a:lvl3pPr>
            <a:lvl4pPr indent="-304800" lvl="3" marL="1828800" marR="0" rtl="0" algn="l">
              <a:spcBef>
                <a:spcPts val="1200"/>
              </a:spcBef>
              <a:spcAft>
                <a:spcPts val="0"/>
              </a:spcAft>
              <a:buClr>
                <a:schemeClr val="lt2"/>
              </a:buClr>
              <a:buSzPts val="1200"/>
              <a:buFont typeface="Arial"/>
              <a:buChar char="•"/>
              <a:defRPr b="0" i="0" sz="1200" u="none" cap="none" strike="noStrike">
                <a:solidFill>
                  <a:schemeClr val="dk2"/>
                </a:solidFill>
                <a:latin typeface="Verdana"/>
                <a:ea typeface="Verdana"/>
                <a:cs typeface="Verdana"/>
                <a:sym typeface="Verdana"/>
              </a:defRPr>
            </a:lvl4pPr>
            <a:lvl5pPr indent="-292100" lvl="4" marL="2286000" marR="0" rtl="0" algn="l">
              <a:spcBef>
                <a:spcPts val="1200"/>
              </a:spcBef>
              <a:spcAft>
                <a:spcPts val="0"/>
              </a:spcAft>
              <a:buClr>
                <a:schemeClr val="lt2"/>
              </a:buClr>
              <a:buSzPts val="1000"/>
              <a:buFont typeface="Arial"/>
              <a:buChar char="•"/>
              <a:defRPr b="0" i="0" sz="1000" u="none" cap="none" strike="noStrike">
                <a:solidFill>
                  <a:schemeClr val="dk2"/>
                </a:solidFill>
                <a:latin typeface="Verdana"/>
                <a:ea typeface="Verdana"/>
                <a:cs typeface="Verdana"/>
                <a:sym typeface="Verdana"/>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pic>
        <p:nvPicPr>
          <p:cNvPr descr="BV_Secondary_FullColor_lrg_registered_CMYK_v2.png" id="15" name="Google Shape;15;p6"/>
          <p:cNvPicPr preferRelativeResize="0"/>
          <p:nvPr/>
        </p:nvPicPr>
        <p:blipFill rotWithShape="1">
          <a:blip r:embed="rId1">
            <a:alphaModFix/>
          </a:blip>
          <a:srcRect b="0" l="0" r="0" t="0"/>
          <a:stretch/>
        </p:blipFill>
        <p:spPr>
          <a:xfrm>
            <a:off x="7797799" y="4890139"/>
            <a:ext cx="1136651" cy="14704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
          <p:cNvSpPr txBox="1"/>
          <p:nvPr/>
        </p:nvSpPr>
        <p:spPr>
          <a:xfrm>
            <a:off x="537718" y="1012128"/>
            <a:ext cx="7891271" cy="3936492"/>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rgbClr val="00AB8E"/>
              </a:buClr>
              <a:buSzPts val="1800"/>
              <a:buFont typeface="Arial"/>
              <a:buNone/>
            </a:pPr>
            <a:r>
              <a:rPr b="0" i="0" lang="en-US" sz="1800" u="none" cap="none" strike="noStrike">
                <a:solidFill>
                  <a:srgbClr val="181818"/>
                </a:solidFill>
                <a:latin typeface="Verdana"/>
                <a:ea typeface="Verdana"/>
                <a:cs typeface="Verdana"/>
                <a:sym typeface="Verdana"/>
              </a:rPr>
              <a:t>Advocacy goes beyond helping sales in closing a deal </a:t>
            </a:r>
            <a:endParaRPr/>
          </a:p>
          <a:p>
            <a:pPr indent="-274320" lvl="1" marL="548640" marR="0" rtl="0" algn="l">
              <a:lnSpc>
                <a:spcPct val="150000"/>
              </a:lnSpc>
              <a:spcBef>
                <a:spcPts val="600"/>
              </a:spcBef>
              <a:spcAft>
                <a:spcPts val="0"/>
              </a:spcAft>
              <a:buClr>
                <a:srgbClr val="00AB8E"/>
              </a:buClr>
              <a:buSzPts val="1800"/>
              <a:buFont typeface="Noto Sans Symbols"/>
              <a:buChar char="▪"/>
            </a:pPr>
            <a:r>
              <a:rPr b="0" i="0" lang="en-US" sz="1800" u="none" cap="none" strike="noStrike">
                <a:solidFill>
                  <a:srgbClr val="181818"/>
                </a:solidFill>
                <a:latin typeface="Verdana"/>
                <a:ea typeface="Verdana"/>
                <a:cs typeface="Verdana"/>
                <a:sym typeface="Verdana"/>
              </a:rPr>
              <a:t>Amplifies clients’ successes</a:t>
            </a:r>
            <a:endParaRPr/>
          </a:p>
          <a:p>
            <a:pPr indent="-274320" lvl="1" marL="548640" marR="0" rtl="0" algn="l">
              <a:lnSpc>
                <a:spcPct val="150000"/>
              </a:lnSpc>
              <a:spcBef>
                <a:spcPts val="600"/>
              </a:spcBef>
              <a:spcAft>
                <a:spcPts val="0"/>
              </a:spcAft>
              <a:buClr>
                <a:srgbClr val="00AB8E"/>
              </a:buClr>
              <a:buSzPts val="1800"/>
              <a:buFont typeface="Noto Sans Symbols"/>
              <a:buChar char="▪"/>
            </a:pPr>
            <a:r>
              <a:rPr b="0" i="0" lang="en-US" sz="1800" u="none" cap="none" strike="noStrike">
                <a:solidFill>
                  <a:srgbClr val="181818"/>
                </a:solidFill>
                <a:latin typeface="Verdana"/>
                <a:ea typeface="Verdana"/>
                <a:cs typeface="Verdana"/>
                <a:sym typeface="Verdana"/>
              </a:rPr>
              <a:t>Inspires clients to supports renewal and nurture efforts</a:t>
            </a:r>
            <a:endParaRPr/>
          </a:p>
          <a:p>
            <a:pPr indent="-274320" lvl="1" marL="548640" marR="0" rtl="0" algn="l">
              <a:lnSpc>
                <a:spcPct val="150000"/>
              </a:lnSpc>
              <a:spcBef>
                <a:spcPts val="600"/>
              </a:spcBef>
              <a:spcAft>
                <a:spcPts val="0"/>
              </a:spcAft>
              <a:buClr>
                <a:srgbClr val="00AB8E"/>
              </a:buClr>
              <a:buSzPts val="1800"/>
              <a:buFont typeface="Noto Sans Symbols"/>
              <a:buChar char="▪"/>
            </a:pPr>
            <a:r>
              <a:rPr b="0" i="0" lang="en-US" sz="1800" u="none" cap="none" strike="noStrike">
                <a:solidFill>
                  <a:srgbClr val="181818"/>
                </a:solidFill>
                <a:latin typeface="Verdana"/>
                <a:ea typeface="Verdana"/>
                <a:cs typeface="Verdana"/>
                <a:sym typeface="Verdana"/>
              </a:rPr>
              <a:t>Rewards advocates</a:t>
            </a:r>
            <a:endParaRPr/>
          </a:p>
          <a:p>
            <a:pPr indent="-274320" lvl="1" marL="548640" marR="0" rtl="0" algn="l">
              <a:lnSpc>
                <a:spcPct val="150000"/>
              </a:lnSpc>
              <a:spcBef>
                <a:spcPts val="600"/>
              </a:spcBef>
              <a:spcAft>
                <a:spcPts val="0"/>
              </a:spcAft>
              <a:buClr>
                <a:srgbClr val="00AB8E"/>
              </a:buClr>
              <a:buSzPts val="1800"/>
              <a:buFont typeface="Noto Sans Symbols"/>
              <a:buChar char="▪"/>
            </a:pPr>
            <a:r>
              <a:rPr b="0" i="0" lang="en-US" sz="1800" u="none" cap="none" strike="noStrike">
                <a:solidFill>
                  <a:srgbClr val="181818"/>
                </a:solidFill>
                <a:latin typeface="Verdana"/>
                <a:ea typeface="Verdana"/>
                <a:cs typeface="Verdana"/>
                <a:sym typeface="Verdana"/>
              </a:rPr>
              <a:t>Utilizes a variety of sources for members and assets</a:t>
            </a:r>
            <a:endParaRPr/>
          </a:p>
          <a:p>
            <a:pPr indent="-274320" lvl="1" marL="548640" marR="0" rtl="0" algn="l">
              <a:lnSpc>
                <a:spcPct val="150000"/>
              </a:lnSpc>
              <a:spcBef>
                <a:spcPts val="600"/>
              </a:spcBef>
              <a:spcAft>
                <a:spcPts val="0"/>
              </a:spcAft>
              <a:buClr>
                <a:srgbClr val="00AB8E"/>
              </a:buClr>
              <a:buSzPts val="1800"/>
              <a:buFont typeface="Noto Sans Symbols"/>
              <a:buChar char="▪"/>
            </a:pPr>
            <a:r>
              <a:rPr b="0" i="0" lang="en-US" sz="1800" u="none" cap="none" strike="noStrike">
                <a:solidFill>
                  <a:srgbClr val="181818"/>
                </a:solidFill>
                <a:latin typeface="Verdana"/>
                <a:ea typeface="Verdana"/>
                <a:cs typeface="Verdana"/>
                <a:sym typeface="Verdana"/>
              </a:rPr>
              <a:t>Involves many stakeholders, including PR, client success, sales, marketing, events and operations</a:t>
            </a:r>
            <a:endParaRPr/>
          </a:p>
        </p:txBody>
      </p:sp>
      <p:sp>
        <p:nvSpPr>
          <p:cNvPr id="141" name="Google Shape;141;p1"/>
          <p:cNvSpPr txBox="1"/>
          <p:nvPr/>
        </p:nvSpPr>
        <p:spPr>
          <a:xfrm>
            <a:off x="215900" y="206375"/>
            <a:ext cx="8534908" cy="8572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b="1" i="0" lang="en-US" sz="2800" u="none" cap="none" strike="noStrike">
                <a:solidFill>
                  <a:schemeClr val="dk1"/>
                </a:solidFill>
                <a:latin typeface="Rockwell"/>
                <a:ea typeface="Rockwell"/>
                <a:cs typeface="Rockwell"/>
                <a:sym typeface="Rockwell"/>
              </a:rPr>
              <a:t>From Reference Program to Advocacy Program</a:t>
            </a:r>
            <a:endParaRPr b="1" i="0" sz="2800" u="none" cap="none" strike="noStrike">
              <a:solidFill>
                <a:schemeClr val="dk1"/>
              </a:solidFill>
              <a:latin typeface="Rockwell"/>
              <a:ea typeface="Rockwell"/>
              <a:cs typeface="Rockwell"/>
              <a:sym typeface="Rockwe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
          <p:cNvSpPr txBox="1"/>
          <p:nvPr/>
        </p:nvSpPr>
        <p:spPr>
          <a:xfrm>
            <a:off x="537718" y="1012128"/>
            <a:ext cx="7891271" cy="3727140"/>
          </a:xfrm>
          <a:prstGeom prst="rect">
            <a:avLst/>
          </a:prstGeom>
          <a:noFill/>
          <a:ln>
            <a:noFill/>
          </a:ln>
        </p:spPr>
        <p:txBody>
          <a:bodyPr anchorCtr="0" anchor="t" bIns="45700" lIns="91425" spcFirstLastPara="1" rIns="91425" wrap="square" tIns="45700">
            <a:normAutofit/>
          </a:bodyPr>
          <a:lstStyle/>
          <a:p>
            <a:pPr indent="-274320" lvl="0" marL="274320" marR="0" rtl="0" algn="l">
              <a:lnSpc>
                <a:spcPct val="150000"/>
              </a:lnSpc>
              <a:spcBef>
                <a:spcPts val="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Internal incentivization</a:t>
            </a:r>
            <a:endParaRPr b="0" i="0" sz="1800" u="none" cap="none" strike="noStrike">
              <a:solidFill>
                <a:srgbClr val="181818"/>
              </a:solidFill>
              <a:latin typeface="Verdana"/>
              <a:ea typeface="Verdana"/>
              <a:cs typeface="Verdana"/>
              <a:sym typeface="Verdana"/>
            </a:endParaRPr>
          </a:p>
          <a:p>
            <a:pPr indent="-274320" lvl="0" marL="274320" marR="0" rtl="0" algn="l">
              <a:lnSpc>
                <a:spcPct val="150000"/>
              </a:lnSpc>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Expanding the scope of current participants</a:t>
            </a:r>
            <a:endParaRPr/>
          </a:p>
          <a:p>
            <a:pPr indent="-274320" lvl="0" marL="274320" marR="0" rtl="0" algn="l">
              <a:lnSpc>
                <a:spcPct val="150000"/>
              </a:lnSpc>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Follow-up on contractually-obligated clients</a:t>
            </a:r>
            <a:endParaRPr/>
          </a:p>
          <a:p>
            <a:pPr indent="-274320" lvl="0" marL="274320" marR="0" rtl="0" algn="l">
              <a:lnSpc>
                <a:spcPct val="150000"/>
              </a:lnSpc>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Prioritization of non-core solutions</a:t>
            </a:r>
            <a:endParaRPr b="0" i="0" sz="1800" u="none" cap="none" strike="noStrike">
              <a:solidFill>
                <a:srgbClr val="181818"/>
              </a:solidFill>
              <a:latin typeface="Verdana"/>
              <a:ea typeface="Verdana"/>
              <a:cs typeface="Verdana"/>
              <a:sym typeface="Verdana"/>
            </a:endParaRPr>
          </a:p>
          <a:p>
            <a:pPr indent="-274320" lvl="0" marL="274320" marR="0" rtl="0" algn="l">
              <a:lnSpc>
                <a:spcPct val="150000"/>
              </a:lnSpc>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Rewards program</a:t>
            </a:r>
            <a:endParaRPr b="0" i="0" sz="1800" u="none" cap="none" strike="noStrike">
              <a:solidFill>
                <a:srgbClr val="181818"/>
              </a:solidFill>
              <a:latin typeface="Verdana"/>
              <a:ea typeface="Verdana"/>
              <a:cs typeface="Verdana"/>
              <a:sym typeface="Verdana"/>
            </a:endParaRPr>
          </a:p>
          <a:p>
            <a:pPr indent="-274320" lvl="0" marL="274320" marR="0" rtl="0" algn="l">
              <a:lnSpc>
                <a:spcPct val="150000"/>
              </a:lnSpc>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Client presenters at Inspire</a:t>
            </a:r>
            <a:endParaRPr/>
          </a:p>
          <a:p>
            <a:pPr indent="-274320" lvl="0" marL="274320" marR="0" rtl="0" algn="l">
              <a:lnSpc>
                <a:spcPct val="150000"/>
              </a:lnSpc>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Asset creation and better shareability</a:t>
            </a:r>
            <a:endParaRPr b="0" i="0" sz="1800" u="none" cap="none" strike="noStrike">
              <a:solidFill>
                <a:srgbClr val="181818"/>
              </a:solidFill>
              <a:latin typeface="Verdana"/>
              <a:ea typeface="Verdana"/>
              <a:cs typeface="Verdana"/>
              <a:sym typeface="Verdana"/>
            </a:endParaRPr>
          </a:p>
        </p:txBody>
      </p:sp>
      <p:sp>
        <p:nvSpPr>
          <p:cNvPr id="148" name="Google Shape;148;p2"/>
          <p:cNvSpPr txBox="1"/>
          <p:nvPr/>
        </p:nvSpPr>
        <p:spPr>
          <a:xfrm>
            <a:off x="215900" y="206375"/>
            <a:ext cx="8534908" cy="8572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b="1" i="0" lang="en-US" sz="2800" u="none" cap="none" strike="noStrike">
                <a:solidFill>
                  <a:schemeClr val="dk1"/>
                </a:solidFill>
                <a:latin typeface="Rockwell"/>
                <a:ea typeface="Rockwell"/>
                <a:cs typeface="Rockwell"/>
                <a:sym typeface="Rockwell"/>
              </a:rPr>
              <a:t>Strategies to support advocacy</a:t>
            </a:r>
            <a:endParaRPr b="1" i="0" sz="2800" u="none" cap="none" strike="noStrike">
              <a:solidFill>
                <a:schemeClr val="dk1"/>
              </a:solidFill>
              <a:latin typeface="Rockwell"/>
              <a:ea typeface="Rockwell"/>
              <a:cs typeface="Rockwell"/>
              <a:sym typeface="Rockwe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
          <p:cNvSpPr txBox="1"/>
          <p:nvPr>
            <p:ph type="title"/>
          </p:nvPr>
        </p:nvSpPr>
        <p:spPr>
          <a:xfrm>
            <a:off x="215900" y="206375"/>
            <a:ext cx="7043544" cy="85725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solidFill>
                  <a:schemeClr val="dk1"/>
                </a:solidFill>
              </a:rPr>
              <a:t>Performance/status</a:t>
            </a:r>
            <a:endParaRPr>
              <a:solidFill>
                <a:schemeClr val="dk1"/>
              </a:solidFill>
            </a:endParaRPr>
          </a:p>
        </p:txBody>
      </p:sp>
      <p:sp>
        <p:nvSpPr>
          <p:cNvPr id="155" name="Google Shape;155;p3"/>
          <p:cNvSpPr txBox="1"/>
          <p:nvPr/>
        </p:nvSpPr>
        <p:spPr>
          <a:xfrm>
            <a:off x="215900" y="1063625"/>
            <a:ext cx="8526656" cy="3798306"/>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rgbClr val="00AB8E"/>
              </a:buClr>
              <a:buSzPts val="1700"/>
              <a:buFont typeface="Arial"/>
              <a:buNone/>
            </a:pPr>
            <a:r>
              <a:rPr b="1" i="0" lang="en-US" sz="1700" u="none" cap="none" strike="noStrike">
                <a:solidFill>
                  <a:srgbClr val="181818"/>
                </a:solidFill>
                <a:latin typeface="Verdana"/>
                <a:ea typeface="Verdana"/>
                <a:cs typeface="Verdana"/>
                <a:sym typeface="Verdana"/>
              </a:rPr>
              <a:t>Case studies: </a:t>
            </a:r>
            <a:r>
              <a:rPr b="0" i="0" lang="en-US" sz="1700" u="none" cap="none" strike="noStrike">
                <a:solidFill>
                  <a:srgbClr val="181818"/>
                </a:solidFill>
                <a:latin typeface="Verdana"/>
                <a:ea typeface="Verdana"/>
                <a:cs typeface="Verdana"/>
                <a:sym typeface="Verdana"/>
              </a:rPr>
              <a:t>last quarter = 2; annual goal = 12</a:t>
            </a:r>
            <a:endParaRPr/>
          </a:p>
          <a:p>
            <a:pPr indent="-274320" lvl="0" marL="274320" marR="0" rtl="0" algn="l">
              <a:spcBef>
                <a:spcPts val="600"/>
              </a:spcBef>
              <a:spcAft>
                <a:spcPts val="0"/>
              </a:spcAft>
              <a:buClr>
                <a:srgbClr val="00AB8E"/>
              </a:buClr>
              <a:buSzPts val="1400"/>
              <a:buFont typeface="Arial"/>
              <a:buChar char="•"/>
            </a:pPr>
            <a:r>
              <a:rPr b="1" i="0" lang="en-US" sz="1400" u="none" cap="none" strike="noStrike">
                <a:solidFill>
                  <a:srgbClr val="181818"/>
                </a:solidFill>
                <a:latin typeface="Verdana"/>
                <a:ea typeface="Verdana"/>
                <a:cs typeface="Verdana"/>
                <a:sym typeface="Verdana"/>
              </a:rPr>
              <a:t>Published</a:t>
            </a:r>
            <a:r>
              <a:rPr b="0" i="0" lang="en-US" sz="1400" u="none" cap="none" strike="noStrike">
                <a:solidFill>
                  <a:srgbClr val="181818"/>
                </a:solidFill>
                <a:latin typeface="Verdana"/>
                <a:ea typeface="Verdana"/>
                <a:cs typeface="Verdana"/>
                <a:sym typeface="Verdana"/>
              </a:rPr>
              <a:t>: Elkjop, GlamCorner</a:t>
            </a:r>
            <a:endParaRPr/>
          </a:p>
          <a:p>
            <a:pPr indent="-274320" lvl="0" marL="274320" marR="0" rtl="0" algn="l">
              <a:spcBef>
                <a:spcPts val="600"/>
              </a:spcBef>
              <a:spcAft>
                <a:spcPts val="0"/>
              </a:spcAft>
              <a:buClr>
                <a:srgbClr val="00AB8E"/>
              </a:buClr>
              <a:buSzPts val="1400"/>
              <a:buFont typeface="Arial"/>
              <a:buChar char="•"/>
            </a:pPr>
            <a:r>
              <a:rPr b="1" i="0" lang="en-US" sz="1400" u="none" cap="none" strike="noStrike">
                <a:solidFill>
                  <a:srgbClr val="181818"/>
                </a:solidFill>
                <a:latin typeface="Verdana"/>
                <a:ea typeface="Verdana"/>
                <a:cs typeface="Verdana"/>
                <a:sym typeface="Verdana"/>
              </a:rPr>
              <a:t>In progress</a:t>
            </a:r>
            <a:r>
              <a:rPr b="0" i="0" lang="en-US" sz="1400" u="none" cap="none" strike="noStrike">
                <a:solidFill>
                  <a:srgbClr val="181818"/>
                </a:solidFill>
                <a:latin typeface="Verdana"/>
                <a:ea typeface="Verdana"/>
                <a:cs typeface="Verdana"/>
                <a:sym typeface="Verdana"/>
              </a:rPr>
              <a:t>: Kabrita, Chervon (Shopper Ads and Curations), Fat Tire Tours (Curations) and TikiBrand (Sampling)</a:t>
            </a:r>
            <a:endParaRPr/>
          </a:p>
          <a:p>
            <a:pPr indent="-274320" lvl="0" marL="274320" marR="0" rtl="0" algn="l">
              <a:spcBef>
                <a:spcPts val="600"/>
              </a:spcBef>
              <a:spcAft>
                <a:spcPts val="0"/>
              </a:spcAft>
              <a:buClr>
                <a:srgbClr val="00AB8E"/>
              </a:buClr>
              <a:buSzPts val="1400"/>
              <a:buFont typeface="Arial"/>
              <a:buChar char="•"/>
            </a:pPr>
            <a:r>
              <a:rPr b="1" i="0" lang="en-US" sz="1400" u="none" cap="none" strike="noStrike">
                <a:solidFill>
                  <a:srgbClr val="181818"/>
                </a:solidFill>
                <a:latin typeface="Verdana"/>
                <a:ea typeface="Verdana"/>
                <a:cs typeface="Verdana"/>
                <a:sym typeface="Verdana"/>
              </a:rPr>
              <a:t>Kicking off</a:t>
            </a:r>
            <a:r>
              <a:rPr b="0" i="0" lang="en-US" sz="1400" u="none" cap="none" strike="noStrike">
                <a:solidFill>
                  <a:srgbClr val="181818"/>
                </a:solidFill>
                <a:latin typeface="Verdana"/>
                <a:ea typeface="Verdana"/>
                <a:cs typeface="Verdana"/>
                <a:sym typeface="Verdana"/>
              </a:rPr>
              <a:t>: ghd (Spotlights), QVC (Product Recommendations), Academy (Spotlights), TTI Floorcare (Sampling) and Vitamix (Shopper Ads)</a:t>
            </a:r>
            <a:endParaRPr/>
          </a:p>
          <a:p>
            <a:pPr indent="-274320" lvl="0" marL="274320" marR="0" rtl="0" algn="l">
              <a:spcBef>
                <a:spcPts val="600"/>
              </a:spcBef>
              <a:spcAft>
                <a:spcPts val="0"/>
              </a:spcAft>
              <a:buClr>
                <a:srgbClr val="00AB8E"/>
              </a:buClr>
              <a:buSzPts val="1400"/>
              <a:buFont typeface="Arial"/>
              <a:buChar char="•"/>
            </a:pPr>
            <a:r>
              <a:rPr b="1" i="0" lang="en-US" sz="1400" u="none" cap="none" strike="noStrike">
                <a:solidFill>
                  <a:srgbClr val="181818"/>
                </a:solidFill>
                <a:latin typeface="Verdana"/>
                <a:ea typeface="Verdana"/>
                <a:cs typeface="Verdana"/>
                <a:sym typeface="Verdana"/>
              </a:rPr>
              <a:t>In queue/pipeline</a:t>
            </a:r>
            <a:r>
              <a:rPr b="0" i="0" lang="en-US" sz="1400" u="none" cap="none" strike="noStrike">
                <a:solidFill>
                  <a:srgbClr val="181818"/>
                </a:solidFill>
                <a:latin typeface="Verdana"/>
                <a:ea typeface="Verdana"/>
                <a:cs typeface="Verdana"/>
                <a:sym typeface="Verdana"/>
              </a:rPr>
              <a:t>: ~25</a:t>
            </a:r>
            <a:endParaRPr/>
          </a:p>
          <a:p>
            <a:pPr indent="-185420" lvl="0" marL="274320" marR="0" rtl="0" algn="l">
              <a:spcBef>
                <a:spcPts val="600"/>
              </a:spcBef>
              <a:spcAft>
                <a:spcPts val="0"/>
              </a:spcAft>
              <a:buClr>
                <a:srgbClr val="00AB8E"/>
              </a:buClr>
              <a:buSzPts val="1400"/>
              <a:buFont typeface="Arial"/>
              <a:buNone/>
            </a:pPr>
            <a:r>
              <a:t/>
            </a:r>
            <a:endParaRPr b="0" i="0" sz="1400" u="none" cap="none" strike="noStrike">
              <a:solidFill>
                <a:srgbClr val="181818"/>
              </a:solidFill>
              <a:latin typeface="Verdana"/>
              <a:ea typeface="Verdana"/>
              <a:cs typeface="Verdana"/>
              <a:sym typeface="Verdana"/>
            </a:endParaRPr>
          </a:p>
          <a:p>
            <a:pPr indent="0" lvl="0" marL="0" marR="0" rtl="0" algn="l">
              <a:spcBef>
                <a:spcPts val="600"/>
              </a:spcBef>
              <a:spcAft>
                <a:spcPts val="0"/>
              </a:spcAft>
              <a:buClr>
                <a:srgbClr val="00AB8E"/>
              </a:buClr>
              <a:buSzPts val="1700"/>
              <a:buFont typeface="Arial"/>
              <a:buNone/>
            </a:pPr>
            <a:r>
              <a:rPr b="1" i="0" lang="en-US" sz="1700" u="none" cap="none" strike="noStrike">
                <a:solidFill>
                  <a:srgbClr val="181818"/>
                </a:solidFill>
                <a:latin typeface="Verdana"/>
                <a:ea typeface="Verdana"/>
                <a:cs typeface="Verdana"/>
                <a:sym typeface="Verdana"/>
              </a:rPr>
              <a:t>References: </a:t>
            </a:r>
            <a:r>
              <a:rPr b="0" i="0" lang="en-US" sz="1700" u="none" cap="none" strike="noStrike">
                <a:solidFill>
                  <a:srgbClr val="181818"/>
                </a:solidFill>
                <a:latin typeface="Verdana"/>
                <a:ea typeface="Verdana"/>
                <a:cs typeface="Verdana"/>
                <a:sym typeface="Verdana"/>
              </a:rPr>
              <a:t>last quarter = 18; annual goal = 35; ~120 in queue</a:t>
            </a:r>
            <a:endParaRPr/>
          </a:p>
          <a:p>
            <a:pPr indent="0" lvl="0" marL="0" marR="0" rtl="0" algn="l">
              <a:spcBef>
                <a:spcPts val="600"/>
              </a:spcBef>
              <a:spcAft>
                <a:spcPts val="0"/>
              </a:spcAft>
              <a:buClr>
                <a:srgbClr val="00AB8E"/>
              </a:buClr>
              <a:buSzPts val="1400"/>
              <a:buFont typeface="Arial"/>
              <a:buNone/>
            </a:pPr>
            <a:r>
              <a:t/>
            </a:r>
            <a:endParaRPr b="0" i="0" sz="1400" u="none" cap="none" strike="noStrike">
              <a:solidFill>
                <a:srgbClr val="181818"/>
              </a:solidFill>
              <a:latin typeface="Verdana"/>
              <a:ea typeface="Verdana"/>
              <a:cs typeface="Verdana"/>
              <a:sym typeface="Verdana"/>
            </a:endParaRPr>
          </a:p>
          <a:p>
            <a:pPr indent="0" lvl="0" marL="0" marR="0" rtl="0" algn="l">
              <a:spcBef>
                <a:spcPts val="600"/>
              </a:spcBef>
              <a:spcAft>
                <a:spcPts val="0"/>
              </a:spcAft>
              <a:buClr>
                <a:srgbClr val="00AB8E"/>
              </a:buClr>
              <a:buSzPts val="1700"/>
              <a:buFont typeface="Arial"/>
              <a:buNone/>
            </a:pPr>
            <a:r>
              <a:rPr b="1" i="0" lang="en-US" sz="1700" u="none" cap="none" strike="noStrike">
                <a:solidFill>
                  <a:srgbClr val="181818"/>
                </a:solidFill>
                <a:latin typeface="Verdana"/>
                <a:ea typeface="Verdana"/>
                <a:cs typeface="Verdana"/>
                <a:sym typeface="Verdana"/>
              </a:rPr>
              <a:t>Inspire client speakers: </a:t>
            </a:r>
            <a:r>
              <a:rPr b="0" i="0" lang="en-US" sz="1700" u="none" cap="none" strike="noStrike">
                <a:solidFill>
                  <a:srgbClr val="181818"/>
                </a:solidFill>
                <a:latin typeface="Verdana"/>
                <a:ea typeface="Verdana"/>
                <a:cs typeface="Verdana"/>
                <a:sym typeface="Verdana"/>
              </a:rPr>
              <a:t>4/4 so far...soon to be 6/6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nvSpPr>
        <p:spPr>
          <a:xfrm>
            <a:off x="5419052" y="1207007"/>
            <a:ext cx="3724948" cy="2673616"/>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AB8E"/>
              </a:buClr>
              <a:buSzPts val="1800"/>
              <a:buFont typeface="Arial"/>
              <a:buNone/>
            </a:pPr>
            <a:r>
              <a:rPr b="1" i="0" lang="en-US" sz="1800" u="none" cap="none" strike="noStrike">
                <a:solidFill>
                  <a:srgbClr val="181818"/>
                </a:solidFill>
                <a:latin typeface="Verdana"/>
                <a:ea typeface="Verdana"/>
                <a:cs typeface="Verdana"/>
                <a:sym typeface="Verdana"/>
              </a:rPr>
              <a:t>How you can help</a:t>
            </a:r>
            <a:endParaRPr/>
          </a:p>
          <a:p>
            <a:pPr indent="-274320" lvl="0" marL="274320" marR="0" rtl="0" algn="l">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Refer candidates</a:t>
            </a:r>
            <a:endParaRPr/>
          </a:p>
          <a:p>
            <a:pPr indent="-274320" lvl="0" marL="274320" marR="0" rtl="0" algn="l">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Request topics/industries/solutions to prioritize</a:t>
            </a:r>
            <a:endParaRPr b="0" i="0" sz="1800" u="none" cap="none" strike="noStrike">
              <a:solidFill>
                <a:srgbClr val="181818"/>
              </a:solidFill>
              <a:latin typeface="Verdana"/>
              <a:ea typeface="Verdana"/>
              <a:cs typeface="Verdana"/>
              <a:sym typeface="Verdana"/>
            </a:endParaRPr>
          </a:p>
        </p:txBody>
      </p:sp>
      <p:sp>
        <p:nvSpPr>
          <p:cNvPr id="162" name="Google Shape;162;p4"/>
          <p:cNvSpPr txBox="1"/>
          <p:nvPr/>
        </p:nvSpPr>
        <p:spPr>
          <a:xfrm>
            <a:off x="215900" y="206375"/>
            <a:ext cx="8534908" cy="8572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b="1" i="0" lang="en-US" sz="2800" u="none" cap="none" strike="noStrike">
                <a:solidFill>
                  <a:schemeClr val="dk1"/>
                </a:solidFill>
                <a:latin typeface="Rockwell"/>
                <a:ea typeface="Rockwell"/>
                <a:cs typeface="Rockwell"/>
                <a:sym typeface="Rockwell"/>
              </a:rPr>
              <a:t>What’s next and how you can help</a:t>
            </a:r>
            <a:endParaRPr b="1" i="0" sz="2800" u="none" cap="none" strike="noStrike">
              <a:solidFill>
                <a:schemeClr val="dk1"/>
              </a:solidFill>
              <a:latin typeface="Rockwell"/>
              <a:ea typeface="Rockwell"/>
              <a:cs typeface="Rockwell"/>
              <a:sym typeface="Rockwell"/>
            </a:endParaRPr>
          </a:p>
        </p:txBody>
      </p:sp>
      <p:sp>
        <p:nvSpPr>
          <p:cNvPr id="163" name="Google Shape;163;p4"/>
          <p:cNvSpPr txBox="1"/>
          <p:nvPr/>
        </p:nvSpPr>
        <p:spPr>
          <a:xfrm>
            <a:off x="628561" y="1207007"/>
            <a:ext cx="4211068" cy="3454203"/>
          </a:xfrm>
          <a:prstGeom prst="rect">
            <a:avLst/>
          </a:prstGeom>
          <a:noFill/>
          <a:ln>
            <a:noFill/>
          </a:ln>
        </p:spPr>
        <p:txBody>
          <a:bodyPr anchorCtr="0" anchor="t" bIns="45700" lIns="91425" spcFirstLastPara="1" rIns="91425" wrap="square" tIns="45700">
            <a:normAutofit lnSpcReduction="10000"/>
          </a:bodyPr>
          <a:lstStyle/>
          <a:p>
            <a:pPr indent="0" lvl="0" marL="0" marR="0" rtl="0" algn="l">
              <a:spcBef>
                <a:spcPts val="0"/>
              </a:spcBef>
              <a:spcAft>
                <a:spcPts val="0"/>
              </a:spcAft>
              <a:buClr>
                <a:srgbClr val="00AB8E"/>
              </a:buClr>
              <a:buSzPts val="1800"/>
              <a:buFont typeface="Arial"/>
              <a:buNone/>
            </a:pPr>
            <a:r>
              <a:rPr b="1" i="0" lang="en-US" sz="1800" u="none" cap="none" strike="noStrike">
                <a:solidFill>
                  <a:srgbClr val="181818"/>
                </a:solidFill>
                <a:latin typeface="Verdana"/>
                <a:ea typeface="Verdana"/>
                <a:cs typeface="Verdana"/>
                <a:sym typeface="Verdana"/>
              </a:rPr>
              <a:t>What’s next</a:t>
            </a:r>
            <a:endParaRPr/>
          </a:p>
          <a:p>
            <a:pPr indent="-274320" lvl="0" marL="274320" marR="0" rtl="0" algn="l">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More alignment and collaboration with EMEA</a:t>
            </a:r>
            <a:endParaRPr/>
          </a:p>
          <a:p>
            <a:pPr indent="-274320" lvl="0" marL="274320" marR="0" rtl="0" algn="l">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Internal incentivization program with Client Success</a:t>
            </a:r>
            <a:endParaRPr/>
          </a:p>
          <a:p>
            <a:pPr indent="-274320" lvl="0" marL="274320" marR="0" rtl="0" algn="l">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Continue creation of 1-pagers (~45 so far)</a:t>
            </a:r>
            <a:endParaRPr/>
          </a:p>
          <a:p>
            <a:pPr indent="-274320" lvl="0" marL="274320" marR="0" rtl="0" algn="l">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Organize and share assets in a more efficient and adopted fashion (SFDC, b:ready, etc)</a:t>
            </a:r>
            <a:endParaRPr/>
          </a:p>
          <a:p>
            <a:pPr indent="-274320" lvl="0" marL="274320" marR="0" rtl="0" algn="l">
              <a:spcBef>
                <a:spcPts val="600"/>
              </a:spcBef>
              <a:spcAft>
                <a:spcPts val="0"/>
              </a:spcAft>
              <a:buClr>
                <a:srgbClr val="00AB8E"/>
              </a:buClr>
              <a:buSzPts val="1800"/>
              <a:buFont typeface="Arial"/>
              <a:buChar char="•"/>
            </a:pPr>
            <a:r>
              <a:rPr b="0" i="0" lang="en-US" sz="1800" u="none" cap="none" strike="noStrike">
                <a:solidFill>
                  <a:srgbClr val="181818"/>
                </a:solidFill>
                <a:latin typeface="Verdana"/>
                <a:ea typeface="Verdana"/>
                <a:cs typeface="Verdana"/>
                <a:sym typeface="Verdana"/>
              </a:rPr>
              <a:t>Pinterest-like capability</a:t>
            </a:r>
            <a:endParaRPr/>
          </a:p>
          <a:p>
            <a:pPr indent="-160020" lvl="0" marL="274320" marR="0" rtl="0" algn="l">
              <a:spcBef>
                <a:spcPts val="600"/>
              </a:spcBef>
              <a:spcAft>
                <a:spcPts val="0"/>
              </a:spcAft>
              <a:buClr>
                <a:srgbClr val="00AB8E"/>
              </a:buClr>
              <a:buSzPts val="1800"/>
              <a:buFont typeface="Arial"/>
              <a:buNone/>
            </a:pPr>
            <a:r>
              <a:t/>
            </a:r>
            <a:endParaRPr b="0" i="0" sz="1800" u="none" cap="none" strike="noStrike">
              <a:solidFill>
                <a:srgbClr val="181818"/>
              </a:solidFill>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5"/>
          <p:cNvSpPr txBox="1"/>
          <p:nvPr>
            <p:ph idx="4294967295" type="body"/>
          </p:nvPr>
        </p:nvSpPr>
        <p:spPr>
          <a:xfrm>
            <a:off x="215900" y="936621"/>
            <a:ext cx="5219700" cy="395597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b="1" lang="en-US">
                <a:solidFill>
                  <a:schemeClr val="dk1"/>
                </a:solidFill>
                <a:latin typeface="Rockwell"/>
                <a:ea typeface="Rockwell"/>
                <a:cs typeface="Rockwell"/>
                <a:sym typeface="Rockwell"/>
              </a:rPr>
              <a:t>Challenge</a:t>
            </a:r>
            <a:endParaRPr/>
          </a:p>
          <a:p>
            <a:pPr indent="0" lvl="0" marL="0" rtl="0" algn="l">
              <a:spcBef>
                <a:spcPts val="0"/>
              </a:spcBef>
              <a:spcAft>
                <a:spcPts val="0"/>
              </a:spcAft>
              <a:buSzPts val="1100"/>
              <a:buNone/>
            </a:pPr>
            <a:r>
              <a:rPr lang="en-US" sz="1100"/>
              <a:t>Bodyguards, a manufacturer of protection products for mobile devices, wanted to significantly increase conversion rates and build stronger relationships with retailers</a:t>
            </a:r>
            <a:endParaRPr/>
          </a:p>
          <a:p>
            <a:pPr indent="0" lvl="0" marL="0" rtl="0" algn="l">
              <a:spcBef>
                <a:spcPts val="0"/>
              </a:spcBef>
              <a:spcAft>
                <a:spcPts val="0"/>
              </a:spcAft>
              <a:buSzPts val="1400"/>
              <a:buNone/>
            </a:pPr>
            <a:r>
              <a:t/>
            </a:r>
            <a:endParaRPr sz="1400"/>
          </a:p>
          <a:p>
            <a:pPr indent="0" lvl="0" marL="0" rtl="0" algn="l">
              <a:spcBef>
                <a:spcPts val="0"/>
              </a:spcBef>
              <a:spcAft>
                <a:spcPts val="0"/>
              </a:spcAft>
              <a:buSzPts val="1800"/>
              <a:buNone/>
            </a:pPr>
            <a:r>
              <a:rPr b="1" lang="en-US">
                <a:solidFill>
                  <a:schemeClr val="dk1"/>
                </a:solidFill>
                <a:latin typeface="Rockwell"/>
                <a:ea typeface="Rockwell"/>
                <a:cs typeface="Rockwell"/>
                <a:sym typeface="Rockwell"/>
              </a:rPr>
              <a:t>Solution</a:t>
            </a:r>
            <a:endParaRPr/>
          </a:p>
          <a:p>
            <a:pPr indent="0" lvl="0" marL="0" rtl="0" algn="l">
              <a:spcBef>
                <a:spcPts val="0"/>
              </a:spcBef>
              <a:spcAft>
                <a:spcPts val="0"/>
              </a:spcAft>
              <a:buSzPts val="1100"/>
              <a:buNone/>
            </a:pPr>
            <a:r>
              <a:rPr lang="en-US" sz="1100"/>
              <a:t>Use Bazaarvoice Conversations to gather CGC and share it through multiple channels by syndicating reviews to retailers and incorporating it into marketing materials</a:t>
            </a:r>
            <a:endParaRPr/>
          </a:p>
        </p:txBody>
      </p:sp>
      <p:sp>
        <p:nvSpPr>
          <p:cNvPr id="170" name="Google Shape;170;p5"/>
          <p:cNvSpPr txBox="1"/>
          <p:nvPr>
            <p:ph idx="4294967295" type="title"/>
          </p:nvPr>
        </p:nvSpPr>
        <p:spPr>
          <a:xfrm>
            <a:off x="215900" y="79371"/>
            <a:ext cx="7683500" cy="764143"/>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None/>
            </a:pPr>
            <a:r>
              <a:rPr lang="en-US" sz="1600">
                <a:solidFill>
                  <a:schemeClr val="dk1"/>
                </a:solidFill>
              </a:rPr>
              <a:t>Case Study:</a:t>
            </a:r>
            <a:br>
              <a:rPr lang="en-US" sz="2400">
                <a:solidFill>
                  <a:schemeClr val="dk1"/>
                </a:solidFill>
              </a:rPr>
            </a:br>
            <a:r>
              <a:rPr lang="en-US" sz="2600">
                <a:solidFill>
                  <a:schemeClr val="dk1"/>
                </a:solidFill>
              </a:rPr>
              <a:t>Extending reviews beyond the company’s website</a:t>
            </a:r>
            <a:endParaRPr/>
          </a:p>
        </p:txBody>
      </p:sp>
      <p:sp>
        <p:nvSpPr>
          <p:cNvPr id="171" name="Google Shape;171;p5"/>
          <p:cNvSpPr/>
          <p:nvPr/>
        </p:nvSpPr>
        <p:spPr>
          <a:xfrm>
            <a:off x="0" y="2891276"/>
            <a:ext cx="5300133" cy="1908215"/>
          </a:xfrm>
          <a:prstGeom prst="rect">
            <a:avLst/>
          </a:prstGeom>
          <a:solidFill>
            <a:schemeClr val="accent2"/>
          </a:solidFill>
          <a:ln>
            <a:noFill/>
          </a:ln>
        </p:spPr>
        <p:txBody>
          <a:bodyPr anchorCtr="0" anchor="t" bIns="91425" lIns="365750" spcFirstLastPara="1" rIns="91425" wrap="square" tIns="0">
            <a:spAutoFit/>
          </a:bodyPr>
          <a:lstStyle/>
          <a:p>
            <a:pPr indent="0" lvl="0" marL="0" marR="0" rtl="0" algn="l">
              <a:spcBef>
                <a:spcPts val="0"/>
              </a:spcBef>
              <a:spcAft>
                <a:spcPts val="0"/>
              </a:spcAft>
              <a:buNone/>
            </a:pPr>
            <a:r>
              <a:rPr b="1" i="0" lang="en-US" sz="1800" u="none" cap="none" strike="noStrike">
                <a:solidFill>
                  <a:schemeClr val="lt1"/>
                </a:solidFill>
                <a:latin typeface="Rockwell"/>
                <a:ea typeface="Rockwell"/>
                <a:cs typeface="Rockwell"/>
                <a:sym typeface="Rockwell"/>
              </a:rPr>
              <a:t>Result</a:t>
            </a:r>
            <a:endParaRPr/>
          </a:p>
          <a:p>
            <a:pPr indent="0" lvl="0" marL="0" marR="0" rtl="0" algn="l">
              <a:spcBef>
                <a:spcPts val="0"/>
              </a:spcBef>
              <a:spcAft>
                <a:spcPts val="0"/>
              </a:spcAft>
              <a:buClr>
                <a:schemeClr val="lt1"/>
              </a:buClr>
              <a:buSzPts val="1100"/>
              <a:buFont typeface="Arial"/>
              <a:buNone/>
            </a:pPr>
            <a:r>
              <a:rPr b="0" i="0" lang="en-US" sz="1100" u="none" cap="none" strike="noStrike">
                <a:solidFill>
                  <a:schemeClr val="lt1"/>
                </a:solidFill>
                <a:latin typeface="Arial"/>
                <a:ea typeface="Arial"/>
                <a:cs typeface="Arial"/>
                <a:sym typeface="Arial"/>
              </a:rPr>
              <a:t>Along with allowing consumers to see reviews when they’re making buying decisions at key points of purchase, the CGC increased site conversions by </a:t>
            </a:r>
            <a:r>
              <a:rPr b="1" i="0" lang="en-US" sz="1100" u="none" cap="none" strike="noStrike">
                <a:solidFill>
                  <a:schemeClr val="lt1"/>
                </a:solidFill>
                <a:latin typeface="Arial"/>
                <a:ea typeface="Arial"/>
                <a:cs typeface="Arial"/>
                <a:sym typeface="Arial"/>
              </a:rPr>
              <a:t>121% </a:t>
            </a:r>
            <a:r>
              <a:rPr b="0" i="0" lang="en-US" sz="1100" u="none" cap="none" strike="noStrike">
                <a:solidFill>
                  <a:schemeClr val="lt1"/>
                </a:solidFill>
                <a:latin typeface="Arial"/>
                <a:ea typeface="Arial"/>
                <a:cs typeface="Arial"/>
                <a:sym typeface="Arial"/>
              </a:rPr>
              <a:t>and revenue per visit by </a:t>
            </a:r>
            <a:r>
              <a:rPr b="1" i="0" lang="en-US" sz="1100" u="none" cap="none" strike="noStrike">
                <a:solidFill>
                  <a:schemeClr val="lt1"/>
                </a:solidFill>
                <a:latin typeface="Arial"/>
                <a:ea typeface="Arial"/>
                <a:cs typeface="Arial"/>
                <a:sym typeface="Arial"/>
              </a:rPr>
              <a:t>81% </a:t>
            </a:r>
            <a:r>
              <a:rPr b="0" i="0" lang="en-US" sz="1100" u="none" cap="none" strike="noStrike">
                <a:solidFill>
                  <a:schemeClr val="lt1"/>
                </a:solidFill>
                <a:latin typeface="Arial"/>
                <a:ea typeface="Arial"/>
                <a:cs typeface="Arial"/>
                <a:sym typeface="Arial"/>
              </a:rPr>
              <a:t>from people who interact with reviews (versus those who don’t). </a:t>
            </a:r>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a:p>
            <a:pPr indent="0" lvl="0" marL="0" marR="0" rtl="0" algn="l">
              <a:spcBef>
                <a:spcPts val="0"/>
              </a:spcBef>
              <a:spcAft>
                <a:spcPts val="0"/>
              </a:spcAft>
              <a:buClr>
                <a:schemeClr val="lt1"/>
              </a:buClr>
              <a:buSzPts val="1100"/>
              <a:buFont typeface="Arial"/>
              <a:buNone/>
            </a:pPr>
            <a:r>
              <a:rPr b="0" i="0" lang="en-US" sz="1100" u="none" cap="none" strike="noStrike">
                <a:solidFill>
                  <a:schemeClr val="lt1"/>
                </a:solidFill>
                <a:latin typeface="Arial"/>
                <a:ea typeface="Arial"/>
                <a:cs typeface="Arial"/>
                <a:sym typeface="Arial"/>
              </a:rPr>
              <a:t>The company uses reviews in the ongoing effort to recruit more retailers to sell BodyGuardz products and uses the CGC for marketing efforts, including online banners and ads, emails, videos, social channels and product packaging.</a:t>
            </a:r>
            <a:endParaRPr/>
          </a:p>
        </p:txBody>
      </p:sp>
      <p:pic>
        <p:nvPicPr>
          <p:cNvPr id="172" name="Google Shape;172;p5"/>
          <p:cNvPicPr preferRelativeResize="0"/>
          <p:nvPr/>
        </p:nvPicPr>
        <p:blipFill rotWithShape="1">
          <a:blip r:embed="rId3">
            <a:alphaModFix/>
          </a:blip>
          <a:srcRect b="0" l="0" r="0" t="0"/>
          <a:stretch/>
        </p:blipFill>
        <p:spPr>
          <a:xfrm>
            <a:off x="5651500" y="1746408"/>
            <a:ext cx="3044047" cy="2251883"/>
          </a:xfrm>
          <a:prstGeom prst="rect">
            <a:avLst/>
          </a:prstGeom>
          <a:noFill/>
          <a:ln>
            <a:noFill/>
          </a:ln>
          <a:effectLst>
            <a:outerShdw blurRad="50800" rotWithShape="0" algn="tl" dir="2700000" dist="38100">
              <a:srgbClr val="000000">
                <a:alpha val="40000"/>
              </a:srgbClr>
            </a:outerShdw>
          </a:effectLst>
        </p:spPr>
      </p:pic>
      <p:pic>
        <p:nvPicPr>
          <p:cNvPr id="173" name="Google Shape;173;p5"/>
          <p:cNvPicPr preferRelativeResize="0"/>
          <p:nvPr/>
        </p:nvPicPr>
        <p:blipFill rotWithShape="1">
          <a:blip r:embed="rId4">
            <a:alphaModFix/>
          </a:blip>
          <a:srcRect b="0" l="0" r="0" t="0"/>
          <a:stretch/>
        </p:blipFill>
        <p:spPr>
          <a:xfrm>
            <a:off x="7625920" y="154040"/>
            <a:ext cx="1410604" cy="42795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2731e41b35a_0_0"/>
          <p:cNvSpPr txBox="1"/>
          <p:nvPr>
            <p:ph idx="4294967295" type="body"/>
          </p:nvPr>
        </p:nvSpPr>
        <p:spPr>
          <a:xfrm>
            <a:off x="215900" y="936621"/>
            <a:ext cx="5219700" cy="395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b="1" lang="en-US">
                <a:solidFill>
                  <a:schemeClr val="dk1"/>
                </a:solidFill>
                <a:latin typeface="Rockwell"/>
                <a:ea typeface="Rockwell"/>
                <a:cs typeface="Rockwell"/>
                <a:sym typeface="Rockwell"/>
              </a:rPr>
              <a:t>Challenge</a:t>
            </a:r>
            <a:endParaRPr/>
          </a:p>
          <a:p>
            <a:pPr indent="0" lvl="0" marL="0" rtl="0" algn="l">
              <a:spcBef>
                <a:spcPts val="0"/>
              </a:spcBef>
              <a:spcAft>
                <a:spcPts val="0"/>
              </a:spcAft>
              <a:buSzPts val="1100"/>
              <a:buNone/>
            </a:pPr>
            <a:r>
              <a:rPr lang="en-US" sz="1100"/>
              <a:t>Bodyguards, a manufacturer of protection products for mobile devices, wanted to significantly increase conversion rates and build stronger relationships with retailers</a:t>
            </a:r>
            <a:endParaRPr/>
          </a:p>
          <a:p>
            <a:pPr indent="0" lvl="0" marL="0" rtl="0" algn="l">
              <a:spcBef>
                <a:spcPts val="0"/>
              </a:spcBef>
              <a:spcAft>
                <a:spcPts val="0"/>
              </a:spcAft>
              <a:buSzPts val="1400"/>
              <a:buNone/>
            </a:pPr>
            <a:r>
              <a:t/>
            </a:r>
            <a:endParaRPr sz="1400"/>
          </a:p>
          <a:p>
            <a:pPr indent="0" lvl="0" marL="0" rtl="0" algn="l">
              <a:spcBef>
                <a:spcPts val="0"/>
              </a:spcBef>
              <a:spcAft>
                <a:spcPts val="0"/>
              </a:spcAft>
              <a:buSzPts val="1800"/>
              <a:buNone/>
            </a:pPr>
            <a:r>
              <a:rPr b="1" lang="en-US">
                <a:solidFill>
                  <a:schemeClr val="dk1"/>
                </a:solidFill>
                <a:latin typeface="Rockwell"/>
                <a:ea typeface="Rockwell"/>
                <a:cs typeface="Rockwell"/>
                <a:sym typeface="Rockwell"/>
              </a:rPr>
              <a:t>Solution</a:t>
            </a:r>
            <a:endParaRPr/>
          </a:p>
          <a:p>
            <a:pPr indent="0" lvl="0" marL="0" rtl="0" algn="l">
              <a:spcBef>
                <a:spcPts val="0"/>
              </a:spcBef>
              <a:spcAft>
                <a:spcPts val="0"/>
              </a:spcAft>
              <a:buSzPts val="1100"/>
              <a:buNone/>
            </a:pPr>
            <a:r>
              <a:rPr lang="en-US" sz="1100"/>
              <a:t>Use Bazaarvoice Conversations to gather CGC and share it through multiple channels by syndicating reviews to retailers and incorporating it into marketing materials</a:t>
            </a:r>
            <a:endParaRPr/>
          </a:p>
        </p:txBody>
      </p:sp>
      <p:sp>
        <p:nvSpPr>
          <p:cNvPr id="180" name="Google Shape;180;g2731e41b35a_0_0"/>
          <p:cNvSpPr txBox="1"/>
          <p:nvPr>
            <p:ph idx="4294967295" type="title"/>
          </p:nvPr>
        </p:nvSpPr>
        <p:spPr>
          <a:xfrm>
            <a:off x="215900" y="79371"/>
            <a:ext cx="7683600" cy="7641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None/>
            </a:pPr>
            <a:r>
              <a:rPr lang="en-US" sz="1600">
                <a:solidFill>
                  <a:schemeClr val="dk1"/>
                </a:solidFill>
              </a:rPr>
              <a:t>Case Study:</a:t>
            </a:r>
            <a:br>
              <a:rPr lang="en-US" sz="2400">
                <a:solidFill>
                  <a:schemeClr val="dk1"/>
                </a:solidFill>
              </a:rPr>
            </a:br>
            <a:r>
              <a:rPr lang="en-US" sz="2600">
                <a:solidFill>
                  <a:schemeClr val="dk1"/>
                </a:solidFill>
              </a:rPr>
              <a:t>Extending reviews beyond the company’s website</a:t>
            </a:r>
            <a:endParaRPr/>
          </a:p>
        </p:txBody>
      </p:sp>
      <p:sp>
        <p:nvSpPr>
          <p:cNvPr id="181" name="Google Shape;181;g2731e41b35a_0_0"/>
          <p:cNvSpPr/>
          <p:nvPr/>
        </p:nvSpPr>
        <p:spPr>
          <a:xfrm>
            <a:off x="0" y="2891276"/>
            <a:ext cx="5300100" cy="1908300"/>
          </a:xfrm>
          <a:prstGeom prst="rect">
            <a:avLst/>
          </a:prstGeom>
          <a:solidFill>
            <a:schemeClr val="accent2"/>
          </a:solidFill>
          <a:ln>
            <a:noFill/>
          </a:ln>
        </p:spPr>
        <p:txBody>
          <a:bodyPr anchorCtr="0" anchor="t" bIns="91425" lIns="365750" spcFirstLastPara="1" rIns="91425" wrap="square" tIns="0">
            <a:noAutofit/>
          </a:bodyPr>
          <a:lstStyle/>
          <a:p>
            <a:pPr indent="0" lvl="0" marL="0" marR="0" rtl="0" algn="l">
              <a:spcBef>
                <a:spcPts val="0"/>
              </a:spcBef>
              <a:spcAft>
                <a:spcPts val="0"/>
              </a:spcAft>
              <a:buNone/>
            </a:pPr>
            <a:r>
              <a:rPr b="1" i="0" lang="en-US" sz="1800" u="none" cap="none" strike="noStrike">
                <a:solidFill>
                  <a:schemeClr val="lt1"/>
                </a:solidFill>
                <a:latin typeface="Rockwell"/>
                <a:ea typeface="Rockwell"/>
                <a:cs typeface="Rockwell"/>
                <a:sym typeface="Rockwell"/>
              </a:rPr>
              <a:t>Result</a:t>
            </a:r>
            <a:endParaRPr/>
          </a:p>
          <a:p>
            <a:pPr indent="0" lvl="0" marL="0" marR="0" rtl="0" algn="l">
              <a:spcBef>
                <a:spcPts val="0"/>
              </a:spcBef>
              <a:spcAft>
                <a:spcPts val="0"/>
              </a:spcAft>
              <a:buClr>
                <a:schemeClr val="lt1"/>
              </a:buClr>
              <a:buSzPts val="1100"/>
              <a:buFont typeface="Arial"/>
              <a:buNone/>
            </a:pPr>
            <a:r>
              <a:rPr b="0" i="0" lang="en-US" sz="1100" u="none" cap="none" strike="noStrike">
                <a:solidFill>
                  <a:schemeClr val="lt1"/>
                </a:solidFill>
                <a:latin typeface="Arial"/>
                <a:ea typeface="Arial"/>
                <a:cs typeface="Arial"/>
                <a:sym typeface="Arial"/>
              </a:rPr>
              <a:t>Along with allowing consumers to see reviews when they’re making buying decisions at key points of purchase, the CGC increased site conversions by </a:t>
            </a:r>
            <a:r>
              <a:rPr b="1" i="0" lang="en-US" sz="1100" u="none" cap="none" strike="noStrike">
                <a:solidFill>
                  <a:schemeClr val="lt1"/>
                </a:solidFill>
                <a:latin typeface="Arial"/>
                <a:ea typeface="Arial"/>
                <a:cs typeface="Arial"/>
                <a:sym typeface="Arial"/>
              </a:rPr>
              <a:t>121% </a:t>
            </a:r>
            <a:r>
              <a:rPr b="0" i="0" lang="en-US" sz="1100" u="none" cap="none" strike="noStrike">
                <a:solidFill>
                  <a:schemeClr val="lt1"/>
                </a:solidFill>
                <a:latin typeface="Arial"/>
                <a:ea typeface="Arial"/>
                <a:cs typeface="Arial"/>
                <a:sym typeface="Arial"/>
              </a:rPr>
              <a:t>and revenue per visit by </a:t>
            </a:r>
            <a:r>
              <a:rPr b="1" i="0" lang="en-US" sz="1100" u="none" cap="none" strike="noStrike">
                <a:solidFill>
                  <a:schemeClr val="lt1"/>
                </a:solidFill>
                <a:latin typeface="Arial"/>
                <a:ea typeface="Arial"/>
                <a:cs typeface="Arial"/>
                <a:sym typeface="Arial"/>
              </a:rPr>
              <a:t>81% </a:t>
            </a:r>
            <a:r>
              <a:rPr b="0" i="0" lang="en-US" sz="1100" u="none" cap="none" strike="noStrike">
                <a:solidFill>
                  <a:schemeClr val="lt1"/>
                </a:solidFill>
                <a:latin typeface="Arial"/>
                <a:ea typeface="Arial"/>
                <a:cs typeface="Arial"/>
                <a:sym typeface="Arial"/>
              </a:rPr>
              <a:t>from people who interact with reviews (versus those who don’t). </a:t>
            </a:r>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a:p>
            <a:pPr indent="0" lvl="0" marL="0" marR="0" rtl="0" algn="l">
              <a:spcBef>
                <a:spcPts val="0"/>
              </a:spcBef>
              <a:spcAft>
                <a:spcPts val="0"/>
              </a:spcAft>
              <a:buClr>
                <a:schemeClr val="lt1"/>
              </a:buClr>
              <a:buSzPts val="1100"/>
              <a:buFont typeface="Arial"/>
              <a:buNone/>
            </a:pPr>
            <a:r>
              <a:rPr b="0" i="0" lang="en-US" sz="1100" u="none" cap="none" strike="noStrike">
                <a:solidFill>
                  <a:schemeClr val="lt1"/>
                </a:solidFill>
                <a:latin typeface="Arial"/>
                <a:ea typeface="Arial"/>
                <a:cs typeface="Arial"/>
                <a:sym typeface="Arial"/>
              </a:rPr>
              <a:t>The company uses reviews in the ongoing effort to recruit more retailers to sell BodyGuardz products and uses the CGC for marketing efforts, including online banners and ads, emails, videos, social channels and product packaging.</a:t>
            </a:r>
            <a:endParaRPr/>
          </a:p>
        </p:txBody>
      </p:sp>
      <p:pic>
        <p:nvPicPr>
          <p:cNvPr id="182" name="Google Shape;182;g2731e41b35a_0_0"/>
          <p:cNvPicPr preferRelativeResize="0"/>
          <p:nvPr/>
        </p:nvPicPr>
        <p:blipFill rotWithShape="1">
          <a:blip r:embed="rId3">
            <a:alphaModFix/>
          </a:blip>
          <a:srcRect b="0" l="0" r="0" t="0"/>
          <a:stretch/>
        </p:blipFill>
        <p:spPr>
          <a:xfrm>
            <a:off x="5651500" y="1746408"/>
            <a:ext cx="3044047" cy="2251883"/>
          </a:xfrm>
          <a:prstGeom prst="rect">
            <a:avLst/>
          </a:prstGeom>
          <a:noFill/>
          <a:ln>
            <a:noFill/>
          </a:ln>
          <a:effectLst>
            <a:outerShdw blurRad="50800" rotWithShape="0" algn="tl" dir="2700000" dist="38100">
              <a:srgbClr val="000000">
                <a:alpha val="40000"/>
              </a:srgbClr>
            </a:outerShdw>
          </a:effectLst>
        </p:spPr>
      </p:pic>
      <p:pic>
        <p:nvPicPr>
          <p:cNvPr id="183" name="Google Shape;183;g2731e41b35a_0_0"/>
          <p:cNvPicPr preferRelativeResize="0"/>
          <p:nvPr/>
        </p:nvPicPr>
        <p:blipFill rotWithShape="1">
          <a:blip r:embed="rId4">
            <a:alphaModFix/>
          </a:blip>
          <a:srcRect b="0" l="0" r="0" t="0"/>
          <a:stretch/>
        </p:blipFill>
        <p:spPr>
          <a:xfrm>
            <a:off x="7625920" y="154040"/>
            <a:ext cx="1410604" cy="42795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V_16_9_templatewithLayouts_Jan2015">
  <a:themeElements>
    <a:clrScheme name="Bazaarvoice">
      <a:dk1>
        <a:srgbClr val="0C0C0C"/>
      </a:dk1>
      <a:lt1>
        <a:srgbClr val="FFFFFF"/>
      </a:lt1>
      <a:dk2>
        <a:srgbClr val="003D4C"/>
      </a:dk2>
      <a:lt2>
        <a:srgbClr val="00AB8E"/>
      </a:lt2>
      <a:accent1>
        <a:srgbClr val="99142B"/>
      </a:accent1>
      <a:accent2>
        <a:srgbClr val="994075"/>
      </a:accent2>
      <a:accent3>
        <a:srgbClr val="D93D00"/>
      </a:accent3>
      <a:accent4>
        <a:srgbClr val="C0CA55"/>
      </a:accent4>
      <a:accent5>
        <a:srgbClr val="77B2BC"/>
      </a:accent5>
      <a:accent6>
        <a:srgbClr val="CCEEE8"/>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2016-04-11T14:22:29Z</dcterms:created>
  <dc:creator>Kelly Davis-Felner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0x0101001B4499B61B2D614A852C305400A39B7A</vt:lpwstr>
  </property>
</Properties>
</file>